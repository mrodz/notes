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2.xml" ContentType="application/vnd.openxmlformats-officedocument.presentationml.notesSlide+xml"/>
  <Override PartName="/ppt/tags/tag18.xml" ContentType="application/vnd.openxmlformats-officedocument.presentationml.tags+xml"/>
  <Override PartName="/ppt/notesSlides/notesSlide3.xml" ContentType="application/vnd.openxmlformats-officedocument.presentationml.notesSlide+xml"/>
  <Override PartName="/ppt/tags/tag19.xml" ContentType="application/vnd.openxmlformats-officedocument.presentationml.tags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20.xml" ContentType="application/vnd.openxmlformats-officedocument.presentationml.tags+xml"/>
  <Override PartName="/ppt/notesSlides/notesSlide5.xml" ContentType="application/vnd.openxmlformats-officedocument.presentationml.notesSlide+xml"/>
  <Override PartName="/ppt/tags/tag21.xml" ContentType="application/vnd.openxmlformats-officedocument.presentationml.tags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924" r:id="rId1"/>
  </p:sldMasterIdLst>
  <p:notesMasterIdLst>
    <p:notesMasterId r:id="rId14"/>
  </p:notesMasterIdLst>
  <p:handoutMasterIdLst>
    <p:handoutMasterId r:id="rId15"/>
  </p:handoutMasterIdLst>
  <p:sldIdLst>
    <p:sldId id="3591" r:id="rId2"/>
    <p:sldId id="3592" r:id="rId3"/>
    <p:sldId id="3602" r:id="rId4"/>
    <p:sldId id="3593" r:id="rId5"/>
    <p:sldId id="3594" r:id="rId6"/>
    <p:sldId id="3595" r:id="rId7"/>
    <p:sldId id="3596" r:id="rId8"/>
    <p:sldId id="3597" r:id="rId9"/>
    <p:sldId id="3598" r:id="rId10"/>
    <p:sldId id="3599" r:id="rId11"/>
    <p:sldId id="3600" r:id="rId12"/>
    <p:sldId id="3601" r:id="rId13"/>
  </p:sldIdLst>
  <p:sldSz cx="9144000" cy="6858000" type="screen4x3"/>
  <p:notesSz cx="7315200" cy="9601200"/>
  <p:custDataLst>
    <p:tags r:id="rId16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800"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800"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800"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800"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800"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800"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800"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800"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800"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575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45" userDrawn="1">
          <p15:clr>
            <a:srgbClr val="A4A3A4"/>
          </p15:clr>
        </p15:guide>
        <p15:guide id="2" pos="2257" userDrawn="1">
          <p15:clr>
            <a:srgbClr val="A4A3A4"/>
          </p15:clr>
        </p15:guide>
        <p15:guide id="3" orient="horz" pos="3025" userDrawn="1">
          <p15:clr>
            <a:srgbClr val="A4A3A4"/>
          </p15:clr>
        </p15:guide>
        <p15:guide id="4" pos="2307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60D5F9-38BF-50A5-5CA9-805AFA64D8F3}" name="Lee, Ruby" initials="" userId="S::ruby.lee@yale.edu::63a8cd99-5fbf-4e10-af40-43e75cf3080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7A43"/>
    <a:srgbClr val="D72009"/>
    <a:srgbClr val="FD6B2A"/>
    <a:srgbClr val="FF4500"/>
    <a:srgbClr val="F39386"/>
    <a:srgbClr val="FB0304"/>
    <a:srgbClr val="F15022"/>
    <a:srgbClr val="F9AD48"/>
    <a:srgbClr val="FCFFFF"/>
    <a:srgbClr val="FF85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60"/>
    <p:restoredTop sz="94630"/>
  </p:normalViewPr>
  <p:slideViewPr>
    <p:cSldViewPr snapToGrid="0">
      <p:cViewPr>
        <p:scale>
          <a:sx n="133" d="100"/>
          <a:sy n="133" d="100"/>
        </p:scale>
        <p:origin x="2096" y="320"/>
      </p:cViewPr>
      <p:guideLst>
        <p:guide orient="horz"/>
        <p:guide pos="575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045"/>
        <p:guide pos="2257"/>
        <p:guide orient="horz" pos="3025"/>
        <p:guide pos="230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42438A3-AB9B-FE48-BCEC-B6F402BAB6C6}" type="doc">
      <dgm:prSet loTypeId="urn:microsoft.com/office/officeart/2005/8/layout/StepDownProcess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488B838-92BE-7245-8DC2-033770DA0817}">
      <dgm:prSet/>
      <dgm:spPr/>
      <dgm:t>
        <a:bodyPr/>
        <a:lstStyle/>
        <a:p>
          <a:r>
            <a:rPr lang="en-US" b="0" i="0" baseline="0" dirty="0"/>
            <a:t>Users under the age of 13 are less brand loyal</a:t>
          </a:r>
          <a:endParaRPr lang="en-US" dirty="0"/>
        </a:p>
      </dgm:t>
    </dgm:pt>
    <dgm:pt modelId="{2B98788C-447E-F149-8415-FCAC210536B4}" type="parTrans" cxnId="{773A2A6B-8192-2147-BE27-509F277673D5}">
      <dgm:prSet/>
      <dgm:spPr/>
      <dgm:t>
        <a:bodyPr/>
        <a:lstStyle/>
        <a:p>
          <a:endParaRPr lang="en-US"/>
        </a:p>
      </dgm:t>
    </dgm:pt>
    <dgm:pt modelId="{C1CECA8D-7337-8046-9287-CA582336BBDD}" type="sibTrans" cxnId="{773A2A6B-8192-2147-BE27-509F277673D5}">
      <dgm:prSet/>
      <dgm:spPr/>
      <dgm:t>
        <a:bodyPr/>
        <a:lstStyle/>
        <a:p>
          <a:endParaRPr lang="en-US"/>
        </a:p>
      </dgm:t>
    </dgm:pt>
    <dgm:pt modelId="{36B0EC63-E748-CF40-8E8B-CBB640C824B5}">
      <dgm:prSet/>
      <dgm:spPr/>
      <dgm:t>
        <a:bodyPr/>
        <a:lstStyle/>
        <a:p>
          <a:r>
            <a:rPr lang="en-US" b="0" i="0" baseline="0" dirty="0"/>
            <a:t>Age-verified experiences can unlock higher-value monetization</a:t>
          </a:r>
          <a:endParaRPr lang="en-US" dirty="0"/>
        </a:p>
      </dgm:t>
    </dgm:pt>
    <dgm:pt modelId="{BD983CFA-33DC-7A44-BFA7-8A4AE7CB4FE8}" type="parTrans" cxnId="{0453EF22-B98C-1041-8251-F140DE630F5A}">
      <dgm:prSet/>
      <dgm:spPr/>
      <dgm:t>
        <a:bodyPr/>
        <a:lstStyle/>
        <a:p>
          <a:endParaRPr lang="en-US"/>
        </a:p>
      </dgm:t>
    </dgm:pt>
    <dgm:pt modelId="{2935B793-0FE6-CA4C-B5D2-CDE5445E106F}" type="sibTrans" cxnId="{0453EF22-B98C-1041-8251-F140DE630F5A}">
      <dgm:prSet/>
      <dgm:spPr/>
      <dgm:t>
        <a:bodyPr/>
        <a:lstStyle/>
        <a:p>
          <a:endParaRPr lang="en-US"/>
        </a:p>
      </dgm:t>
    </dgm:pt>
    <dgm:pt modelId="{B252EDDD-D73A-D14D-8B23-995BD90D1679}">
      <dgm:prSet/>
      <dgm:spPr/>
      <dgm:t>
        <a:bodyPr/>
        <a:lstStyle/>
        <a:p>
          <a:r>
            <a:rPr lang="en-US" b="0" i="0" baseline="0" dirty="0"/>
            <a:t>Increase in-platform spending from an audience with stronger purchasing power</a:t>
          </a:r>
          <a:endParaRPr lang="en-US" dirty="0"/>
        </a:p>
      </dgm:t>
    </dgm:pt>
    <dgm:pt modelId="{0DBFC4D2-6674-6942-893D-9225AE4C5BDD}" type="parTrans" cxnId="{AB98ABFB-4613-9140-B390-70095757755B}">
      <dgm:prSet/>
      <dgm:spPr/>
      <dgm:t>
        <a:bodyPr/>
        <a:lstStyle/>
        <a:p>
          <a:endParaRPr lang="en-US"/>
        </a:p>
      </dgm:t>
    </dgm:pt>
    <dgm:pt modelId="{5EE5CBAB-0477-9744-84BE-FEFADC491759}" type="sibTrans" cxnId="{AB98ABFB-4613-9140-B390-70095757755B}">
      <dgm:prSet/>
      <dgm:spPr/>
      <dgm:t>
        <a:bodyPr/>
        <a:lstStyle/>
        <a:p>
          <a:endParaRPr lang="en-US"/>
        </a:p>
      </dgm:t>
    </dgm:pt>
    <dgm:pt modelId="{282278DB-FC1B-9243-842E-D5E7CA0FF26A}">
      <dgm:prSet/>
      <dgm:spPr/>
      <dgm:t>
        <a:bodyPr/>
        <a:lstStyle/>
        <a:p>
          <a:r>
            <a:rPr lang="en-US" b="0" i="0" baseline="0" dirty="0"/>
            <a:t>For example, In Australia, “loot boxes” requires a mature age rating (15 years+)</a:t>
          </a:r>
          <a:endParaRPr lang="en-US" dirty="0"/>
        </a:p>
      </dgm:t>
    </dgm:pt>
    <dgm:pt modelId="{F7E8EE31-0E3E-7C4D-8251-6AF728595102}" type="parTrans" cxnId="{BAFF8291-D2B6-254B-94F1-D6A30BAB0D39}">
      <dgm:prSet/>
      <dgm:spPr/>
      <dgm:t>
        <a:bodyPr/>
        <a:lstStyle/>
        <a:p>
          <a:endParaRPr lang="en-US"/>
        </a:p>
      </dgm:t>
    </dgm:pt>
    <dgm:pt modelId="{3C7ABEFD-5465-6149-95DD-86EEBC438415}" type="sibTrans" cxnId="{BAFF8291-D2B6-254B-94F1-D6A30BAB0D39}">
      <dgm:prSet/>
      <dgm:spPr/>
      <dgm:t>
        <a:bodyPr/>
        <a:lstStyle/>
        <a:p>
          <a:endParaRPr lang="en-US"/>
        </a:p>
      </dgm:t>
    </dgm:pt>
    <dgm:pt modelId="{5973C939-A4AF-5942-A92E-DC1B8F5AD33B}">
      <dgm:prSet/>
      <dgm:spPr/>
      <dgm:t>
        <a:bodyPr/>
        <a:lstStyle/>
        <a:p>
          <a:r>
            <a:rPr lang="en-US" b="0" i="0" baseline="0" dirty="0"/>
            <a:t>Decrease exposure to COPPA, GDPR, and FTC x COPPA violations</a:t>
          </a:r>
          <a:endParaRPr lang="en-US" dirty="0"/>
        </a:p>
      </dgm:t>
    </dgm:pt>
    <dgm:pt modelId="{1CCEA118-0442-8A41-B919-2748319DE0FF}" type="parTrans" cxnId="{1EB4CD23-BE77-CB47-8E60-B3C38CFA0141}">
      <dgm:prSet/>
      <dgm:spPr/>
      <dgm:t>
        <a:bodyPr/>
        <a:lstStyle/>
        <a:p>
          <a:endParaRPr lang="en-US"/>
        </a:p>
      </dgm:t>
    </dgm:pt>
    <dgm:pt modelId="{352DD57D-F72A-3E4D-A63B-0D4607910643}" type="sibTrans" cxnId="{1EB4CD23-BE77-CB47-8E60-B3C38CFA0141}">
      <dgm:prSet/>
      <dgm:spPr/>
      <dgm:t>
        <a:bodyPr/>
        <a:lstStyle/>
        <a:p>
          <a:endParaRPr lang="en-US"/>
        </a:p>
      </dgm:t>
    </dgm:pt>
    <dgm:pt modelId="{39003897-AFBD-4A48-AE18-A0CB4A70A621}" type="pres">
      <dgm:prSet presAssocID="{342438A3-AB9B-FE48-BCEC-B6F402BAB6C6}" presName="rootnode" presStyleCnt="0">
        <dgm:presLayoutVars>
          <dgm:chMax/>
          <dgm:chPref/>
          <dgm:dir/>
          <dgm:animLvl val="lvl"/>
        </dgm:presLayoutVars>
      </dgm:prSet>
      <dgm:spPr/>
    </dgm:pt>
    <dgm:pt modelId="{6357111E-5FDB-3647-8DA8-B312E329A82C}" type="pres">
      <dgm:prSet presAssocID="{8488B838-92BE-7245-8DC2-033770DA0817}" presName="composite" presStyleCnt="0"/>
      <dgm:spPr/>
    </dgm:pt>
    <dgm:pt modelId="{C23EAA36-0810-FA44-BEE8-3662C16D1020}" type="pres">
      <dgm:prSet presAssocID="{8488B838-92BE-7245-8DC2-033770DA0817}" presName="bentUpArrow1" presStyleLbl="alignImgPlace1" presStyleIdx="0" presStyleCnt="4"/>
      <dgm:spPr/>
    </dgm:pt>
    <dgm:pt modelId="{8D36712C-C0F2-2F49-BEAB-5AD3FAEDC5BC}" type="pres">
      <dgm:prSet presAssocID="{8488B838-92BE-7245-8DC2-033770DA0817}" presName="ParentText" presStyleLbl="node1" presStyleIdx="0" presStyleCnt="5">
        <dgm:presLayoutVars>
          <dgm:chMax val="1"/>
          <dgm:chPref val="1"/>
          <dgm:bulletEnabled val="1"/>
        </dgm:presLayoutVars>
      </dgm:prSet>
      <dgm:spPr/>
    </dgm:pt>
    <dgm:pt modelId="{F2A80D83-8BDD-6B4A-AA50-60AF652B6030}" type="pres">
      <dgm:prSet presAssocID="{8488B838-92BE-7245-8DC2-033770DA0817}" presName="ChildText" presStyleLbl="revTx" presStyleIdx="0" presStyleCnt="4">
        <dgm:presLayoutVars>
          <dgm:chMax val="0"/>
          <dgm:chPref val="0"/>
          <dgm:bulletEnabled val="1"/>
        </dgm:presLayoutVars>
      </dgm:prSet>
      <dgm:spPr/>
    </dgm:pt>
    <dgm:pt modelId="{90873184-0B22-E74D-8C2F-584F23884C08}" type="pres">
      <dgm:prSet presAssocID="{C1CECA8D-7337-8046-9287-CA582336BBDD}" presName="sibTrans" presStyleCnt="0"/>
      <dgm:spPr/>
    </dgm:pt>
    <dgm:pt modelId="{074DF463-16B8-1548-9114-B20ABD359271}" type="pres">
      <dgm:prSet presAssocID="{5973C939-A4AF-5942-A92E-DC1B8F5AD33B}" presName="composite" presStyleCnt="0"/>
      <dgm:spPr/>
    </dgm:pt>
    <dgm:pt modelId="{E6D9CAE6-2BC6-3D43-A12D-E59F231111D1}" type="pres">
      <dgm:prSet presAssocID="{5973C939-A4AF-5942-A92E-DC1B8F5AD33B}" presName="bentUpArrow1" presStyleLbl="alignImgPlace1" presStyleIdx="1" presStyleCnt="4"/>
      <dgm:spPr/>
    </dgm:pt>
    <dgm:pt modelId="{0F103B77-83C4-6848-9612-470D80FA3193}" type="pres">
      <dgm:prSet presAssocID="{5973C939-A4AF-5942-A92E-DC1B8F5AD33B}" presName="ParentText" presStyleLbl="node1" presStyleIdx="1" presStyleCnt="5">
        <dgm:presLayoutVars>
          <dgm:chMax val="1"/>
          <dgm:chPref val="1"/>
          <dgm:bulletEnabled val="1"/>
        </dgm:presLayoutVars>
      </dgm:prSet>
      <dgm:spPr/>
    </dgm:pt>
    <dgm:pt modelId="{CF864242-A35F-EF42-8D58-4BA27898B659}" type="pres">
      <dgm:prSet presAssocID="{5973C939-A4AF-5942-A92E-DC1B8F5AD33B}" presName="ChildText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C4A62C04-A7D8-5B4E-8517-4CAAB3FC7F7B}" type="pres">
      <dgm:prSet presAssocID="{352DD57D-F72A-3E4D-A63B-0D4607910643}" presName="sibTrans" presStyleCnt="0"/>
      <dgm:spPr/>
    </dgm:pt>
    <dgm:pt modelId="{987F743C-E44B-AB4E-9AC3-7E971122304C}" type="pres">
      <dgm:prSet presAssocID="{36B0EC63-E748-CF40-8E8B-CBB640C824B5}" presName="composite" presStyleCnt="0"/>
      <dgm:spPr/>
    </dgm:pt>
    <dgm:pt modelId="{8F9D3CB8-B233-4243-B174-74C7B2FCDCD2}" type="pres">
      <dgm:prSet presAssocID="{36B0EC63-E748-CF40-8E8B-CBB640C824B5}" presName="bentUpArrow1" presStyleLbl="alignImgPlace1" presStyleIdx="2" presStyleCnt="4"/>
      <dgm:spPr/>
    </dgm:pt>
    <dgm:pt modelId="{AB9A7465-55C1-1C44-BE17-91103702281D}" type="pres">
      <dgm:prSet presAssocID="{36B0EC63-E748-CF40-8E8B-CBB640C824B5}" presName="ParentText" presStyleLbl="node1" presStyleIdx="2" presStyleCnt="5">
        <dgm:presLayoutVars>
          <dgm:chMax val="1"/>
          <dgm:chPref val="1"/>
          <dgm:bulletEnabled val="1"/>
        </dgm:presLayoutVars>
      </dgm:prSet>
      <dgm:spPr/>
    </dgm:pt>
    <dgm:pt modelId="{9744F45D-0754-C248-8D1B-C35BD28638E1}" type="pres">
      <dgm:prSet presAssocID="{36B0EC63-E748-CF40-8E8B-CBB640C824B5}" presName="ChildText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9EC34AB1-20F9-0241-A6DE-A9A19867AFD5}" type="pres">
      <dgm:prSet presAssocID="{2935B793-0FE6-CA4C-B5D2-CDE5445E106F}" presName="sibTrans" presStyleCnt="0"/>
      <dgm:spPr/>
    </dgm:pt>
    <dgm:pt modelId="{AB207665-E054-3542-9F8B-C3CAA98F254C}" type="pres">
      <dgm:prSet presAssocID="{282278DB-FC1B-9243-842E-D5E7CA0FF26A}" presName="composite" presStyleCnt="0"/>
      <dgm:spPr/>
    </dgm:pt>
    <dgm:pt modelId="{1F1F2FB1-A838-4A44-AC04-6975C1B260CF}" type="pres">
      <dgm:prSet presAssocID="{282278DB-FC1B-9243-842E-D5E7CA0FF26A}" presName="bentUpArrow1" presStyleLbl="alignImgPlace1" presStyleIdx="3" presStyleCnt="4"/>
      <dgm:spPr/>
    </dgm:pt>
    <dgm:pt modelId="{2B768C87-CE2E-6545-93CE-B2ACF4190CEC}" type="pres">
      <dgm:prSet presAssocID="{282278DB-FC1B-9243-842E-D5E7CA0FF26A}" presName="ParentText" presStyleLbl="node1" presStyleIdx="3" presStyleCnt="5">
        <dgm:presLayoutVars>
          <dgm:chMax val="1"/>
          <dgm:chPref val="1"/>
          <dgm:bulletEnabled val="1"/>
        </dgm:presLayoutVars>
      </dgm:prSet>
      <dgm:spPr/>
    </dgm:pt>
    <dgm:pt modelId="{84F7C713-3A35-0944-B4C0-6B9F94652BB7}" type="pres">
      <dgm:prSet presAssocID="{282278DB-FC1B-9243-842E-D5E7CA0FF26A}" presName="ChildText" presStyleLbl="revTx" presStyleIdx="3" presStyleCnt="4">
        <dgm:presLayoutVars>
          <dgm:chMax val="0"/>
          <dgm:chPref val="0"/>
          <dgm:bulletEnabled val="1"/>
        </dgm:presLayoutVars>
      </dgm:prSet>
      <dgm:spPr/>
    </dgm:pt>
    <dgm:pt modelId="{2FAD84A8-214E-B544-AE4F-DE875E1547A6}" type="pres">
      <dgm:prSet presAssocID="{3C7ABEFD-5465-6149-95DD-86EEBC438415}" presName="sibTrans" presStyleCnt="0"/>
      <dgm:spPr/>
    </dgm:pt>
    <dgm:pt modelId="{3FFD7701-F90F-844C-823B-E2FEE29E2321}" type="pres">
      <dgm:prSet presAssocID="{B252EDDD-D73A-D14D-8B23-995BD90D1679}" presName="composite" presStyleCnt="0"/>
      <dgm:spPr/>
    </dgm:pt>
    <dgm:pt modelId="{ED1238FE-3EDB-3A47-8EDE-08201508BE63}" type="pres">
      <dgm:prSet presAssocID="{B252EDDD-D73A-D14D-8B23-995BD90D1679}" presName="ParentText" presStyleLbl="node1" presStyleIdx="4" presStyleCnt="5">
        <dgm:presLayoutVars>
          <dgm:chMax val="1"/>
          <dgm:chPref val="1"/>
          <dgm:bulletEnabled val="1"/>
        </dgm:presLayoutVars>
      </dgm:prSet>
      <dgm:spPr/>
    </dgm:pt>
  </dgm:ptLst>
  <dgm:cxnLst>
    <dgm:cxn modelId="{B63CE100-FA5B-F94F-B0BE-24F6B9530586}" type="presOf" srcId="{342438A3-AB9B-FE48-BCEC-B6F402BAB6C6}" destId="{39003897-AFBD-4A48-AE18-A0CB4A70A621}" srcOrd="0" destOrd="0" presId="urn:microsoft.com/office/officeart/2005/8/layout/StepDownProcess"/>
    <dgm:cxn modelId="{0453EF22-B98C-1041-8251-F140DE630F5A}" srcId="{342438A3-AB9B-FE48-BCEC-B6F402BAB6C6}" destId="{36B0EC63-E748-CF40-8E8B-CBB640C824B5}" srcOrd="2" destOrd="0" parTransId="{BD983CFA-33DC-7A44-BFA7-8A4AE7CB4FE8}" sibTransId="{2935B793-0FE6-CA4C-B5D2-CDE5445E106F}"/>
    <dgm:cxn modelId="{1EB4CD23-BE77-CB47-8E60-B3C38CFA0141}" srcId="{342438A3-AB9B-FE48-BCEC-B6F402BAB6C6}" destId="{5973C939-A4AF-5942-A92E-DC1B8F5AD33B}" srcOrd="1" destOrd="0" parTransId="{1CCEA118-0442-8A41-B919-2748319DE0FF}" sibTransId="{352DD57D-F72A-3E4D-A63B-0D4607910643}"/>
    <dgm:cxn modelId="{687FB252-8A3C-E842-9FEF-C448EC2997CF}" type="presOf" srcId="{36B0EC63-E748-CF40-8E8B-CBB640C824B5}" destId="{AB9A7465-55C1-1C44-BE17-91103702281D}" srcOrd="0" destOrd="0" presId="urn:microsoft.com/office/officeart/2005/8/layout/StepDownProcess"/>
    <dgm:cxn modelId="{773A2A6B-8192-2147-BE27-509F277673D5}" srcId="{342438A3-AB9B-FE48-BCEC-B6F402BAB6C6}" destId="{8488B838-92BE-7245-8DC2-033770DA0817}" srcOrd="0" destOrd="0" parTransId="{2B98788C-447E-F149-8415-FCAC210536B4}" sibTransId="{C1CECA8D-7337-8046-9287-CA582336BBDD}"/>
    <dgm:cxn modelId="{09FF966C-DA2C-D748-8D60-DECBB77E4629}" type="presOf" srcId="{5973C939-A4AF-5942-A92E-DC1B8F5AD33B}" destId="{0F103B77-83C4-6848-9612-470D80FA3193}" srcOrd="0" destOrd="0" presId="urn:microsoft.com/office/officeart/2005/8/layout/StepDownProcess"/>
    <dgm:cxn modelId="{BAFF8291-D2B6-254B-94F1-D6A30BAB0D39}" srcId="{342438A3-AB9B-FE48-BCEC-B6F402BAB6C6}" destId="{282278DB-FC1B-9243-842E-D5E7CA0FF26A}" srcOrd="3" destOrd="0" parTransId="{F7E8EE31-0E3E-7C4D-8251-6AF728595102}" sibTransId="{3C7ABEFD-5465-6149-95DD-86EEBC438415}"/>
    <dgm:cxn modelId="{8320CD93-E547-FD49-8D8F-A8199EA54047}" type="presOf" srcId="{B252EDDD-D73A-D14D-8B23-995BD90D1679}" destId="{ED1238FE-3EDB-3A47-8EDE-08201508BE63}" srcOrd="0" destOrd="0" presId="urn:microsoft.com/office/officeart/2005/8/layout/StepDownProcess"/>
    <dgm:cxn modelId="{DDDFB4AC-B038-D740-A01B-3236FB1ABC21}" type="presOf" srcId="{282278DB-FC1B-9243-842E-D5E7CA0FF26A}" destId="{2B768C87-CE2E-6545-93CE-B2ACF4190CEC}" srcOrd="0" destOrd="0" presId="urn:microsoft.com/office/officeart/2005/8/layout/StepDownProcess"/>
    <dgm:cxn modelId="{115F56C1-E725-104A-88A4-94B75F40D25B}" type="presOf" srcId="{8488B838-92BE-7245-8DC2-033770DA0817}" destId="{8D36712C-C0F2-2F49-BEAB-5AD3FAEDC5BC}" srcOrd="0" destOrd="0" presId="urn:microsoft.com/office/officeart/2005/8/layout/StepDownProcess"/>
    <dgm:cxn modelId="{AB98ABFB-4613-9140-B390-70095757755B}" srcId="{342438A3-AB9B-FE48-BCEC-B6F402BAB6C6}" destId="{B252EDDD-D73A-D14D-8B23-995BD90D1679}" srcOrd="4" destOrd="0" parTransId="{0DBFC4D2-6674-6942-893D-9225AE4C5BDD}" sibTransId="{5EE5CBAB-0477-9744-84BE-FEFADC491759}"/>
    <dgm:cxn modelId="{49304346-E2D5-5A49-907B-640827F6F0B4}" type="presParOf" srcId="{39003897-AFBD-4A48-AE18-A0CB4A70A621}" destId="{6357111E-5FDB-3647-8DA8-B312E329A82C}" srcOrd="0" destOrd="0" presId="urn:microsoft.com/office/officeart/2005/8/layout/StepDownProcess"/>
    <dgm:cxn modelId="{20BE72A4-740F-5942-860D-D1F5072478BF}" type="presParOf" srcId="{6357111E-5FDB-3647-8DA8-B312E329A82C}" destId="{C23EAA36-0810-FA44-BEE8-3662C16D1020}" srcOrd="0" destOrd="0" presId="urn:microsoft.com/office/officeart/2005/8/layout/StepDownProcess"/>
    <dgm:cxn modelId="{A64BAF1C-005B-764E-B4EA-04EEA7005DCC}" type="presParOf" srcId="{6357111E-5FDB-3647-8DA8-B312E329A82C}" destId="{8D36712C-C0F2-2F49-BEAB-5AD3FAEDC5BC}" srcOrd="1" destOrd="0" presId="urn:microsoft.com/office/officeart/2005/8/layout/StepDownProcess"/>
    <dgm:cxn modelId="{B64BD7B6-5FDA-804F-B92C-546F0D8A4DD5}" type="presParOf" srcId="{6357111E-5FDB-3647-8DA8-B312E329A82C}" destId="{F2A80D83-8BDD-6B4A-AA50-60AF652B6030}" srcOrd="2" destOrd="0" presId="urn:microsoft.com/office/officeart/2005/8/layout/StepDownProcess"/>
    <dgm:cxn modelId="{44187E78-AF1C-3E45-B197-12FE120EFC19}" type="presParOf" srcId="{39003897-AFBD-4A48-AE18-A0CB4A70A621}" destId="{90873184-0B22-E74D-8C2F-584F23884C08}" srcOrd="1" destOrd="0" presId="urn:microsoft.com/office/officeart/2005/8/layout/StepDownProcess"/>
    <dgm:cxn modelId="{C452D230-C07F-5248-B72F-0852D18B0BCB}" type="presParOf" srcId="{39003897-AFBD-4A48-AE18-A0CB4A70A621}" destId="{074DF463-16B8-1548-9114-B20ABD359271}" srcOrd="2" destOrd="0" presId="urn:microsoft.com/office/officeart/2005/8/layout/StepDownProcess"/>
    <dgm:cxn modelId="{3B47508C-5F6C-7344-B355-55E2B79F81F4}" type="presParOf" srcId="{074DF463-16B8-1548-9114-B20ABD359271}" destId="{E6D9CAE6-2BC6-3D43-A12D-E59F231111D1}" srcOrd="0" destOrd="0" presId="urn:microsoft.com/office/officeart/2005/8/layout/StepDownProcess"/>
    <dgm:cxn modelId="{A8813AB9-B72B-C144-BC06-77653C3C53CC}" type="presParOf" srcId="{074DF463-16B8-1548-9114-B20ABD359271}" destId="{0F103B77-83C4-6848-9612-470D80FA3193}" srcOrd="1" destOrd="0" presId="urn:microsoft.com/office/officeart/2005/8/layout/StepDownProcess"/>
    <dgm:cxn modelId="{1220A6C1-3820-6946-B48B-B5D5CDB98EE9}" type="presParOf" srcId="{074DF463-16B8-1548-9114-B20ABD359271}" destId="{CF864242-A35F-EF42-8D58-4BA27898B659}" srcOrd="2" destOrd="0" presId="urn:microsoft.com/office/officeart/2005/8/layout/StepDownProcess"/>
    <dgm:cxn modelId="{0F2B81DB-B38A-AF4C-B45A-2642F2E285DD}" type="presParOf" srcId="{39003897-AFBD-4A48-AE18-A0CB4A70A621}" destId="{C4A62C04-A7D8-5B4E-8517-4CAAB3FC7F7B}" srcOrd="3" destOrd="0" presId="urn:microsoft.com/office/officeart/2005/8/layout/StepDownProcess"/>
    <dgm:cxn modelId="{7A909A44-9783-8640-A6D7-D59FBBBA29C2}" type="presParOf" srcId="{39003897-AFBD-4A48-AE18-A0CB4A70A621}" destId="{987F743C-E44B-AB4E-9AC3-7E971122304C}" srcOrd="4" destOrd="0" presId="urn:microsoft.com/office/officeart/2005/8/layout/StepDownProcess"/>
    <dgm:cxn modelId="{6B0DE12A-6A9B-DC4F-ABBA-2ED4997C53F7}" type="presParOf" srcId="{987F743C-E44B-AB4E-9AC3-7E971122304C}" destId="{8F9D3CB8-B233-4243-B174-74C7B2FCDCD2}" srcOrd="0" destOrd="0" presId="urn:microsoft.com/office/officeart/2005/8/layout/StepDownProcess"/>
    <dgm:cxn modelId="{E2A589A1-5A3D-3647-9123-DDD308E60FDD}" type="presParOf" srcId="{987F743C-E44B-AB4E-9AC3-7E971122304C}" destId="{AB9A7465-55C1-1C44-BE17-91103702281D}" srcOrd="1" destOrd="0" presId="urn:microsoft.com/office/officeart/2005/8/layout/StepDownProcess"/>
    <dgm:cxn modelId="{7532C5FF-2588-F84D-BAE3-73567CFD4331}" type="presParOf" srcId="{987F743C-E44B-AB4E-9AC3-7E971122304C}" destId="{9744F45D-0754-C248-8D1B-C35BD28638E1}" srcOrd="2" destOrd="0" presId="urn:microsoft.com/office/officeart/2005/8/layout/StepDownProcess"/>
    <dgm:cxn modelId="{EFC98628-B85A-0343-998F-6B306046AFA6}" type="presParOf" srcId="{39003897-AFBD-4A48-AE18-A0CB4A70A621}" destId="{9EC34AB1-20F9-0241-A6DE-A9A19867AFD5}" srcOrd="5" destOrd="0" presId="urn:microsoft.com/office/officeart/2005/8/layout/StepDownProcess"/>
    <dgm:cxn modelId="{0BAFF504-602D-274E-B11C-B0C11CF72B3F}" type="presParOf" srcId="{39003897-AFBD-4A48-AE18-A0CB4A70A621}" destId="{AB207665-E054-3542-9F8B-C3CAA98F254C}" srcOrd="6" destOrd="0" presId="urn:microsoft.com/office/officeart/2005/8/layout/StepDownProcess"/>
    <dgm:cxn modelId="{7DB80E20-E792-8C45-96F2-C3B9E3C5EE58}" type="presParOf" srcId="{AB207665-E054-3542-9F8B-C3CAA98F254C}" destId="{1F1F2FB1-A838-4A44-AC04-6975C1B260CF}" srcOrd="0" destOrd="0" presId="urn:microsoft.com/office/officeart/2005/8/layout/StepDownProcess"/>
    <dgm:cxn modelId="{E9170D03-6608-1145-B4FF-C8303FE8339F}" type="presParOf" srcId="{AB207665-E054-3542-9F8B-C3CAA98F254C}" destId="{2B768C87-CE2E-6545-93CE-B2ACF4190CEC}" srcOrd="1" destOrd="0" presId="urn:microsoft.com/office/officeart/2005/8/layout/StepDownProcess"/>
    <dgm:cxn modelId="{BAD45D47-9CFD-7F47-BBB4-53253D04E3B4}" type="presParOf" srcId="{AB207665-E054-3542-9F8B-C3CAA98F254C}" destId="{84F7C713-3A35-0944-B4C0-6B9F94652BB7}" srcOrd="2" destOrd="0" presId="urn:microsoft.com/office/officeart/2005/8/layout/StepDownProcess"/>
    <dgm:cxn modelId="{4901E31E-89AB-C34F-A2E5-931BECD338D7}" type="presParOf" srcId="{39003897-AFBD-4A48-AE18-A0CB4A70A621}" destId="{2FAD84A8-214E-B544-AE4F-DE875E1547A6}" srcOrd="7" destOrd="0" presId="urn:microsoft.com/office/officeart/2005/8/layout/StepDownProcess"/>
    <dgm:cxn modelId="{CB98B77B-D742-9446-A8CA-924AEE434F9A}" type="presParOf" srcId="{39003897-AFBD-4A48-AE18-A0CB4A70A621}" destId="{3FFD7701-F90F-844C-823B-E2FEE29E2321}" srcOrd="8" destOrd="0" presId="urn:microsoft.com/office/officeart/2005/8/layout/StepDownProcess"/>
    <dgm:cxn modelId="{A6F75050-F921-D240-B554-CE9CBA4BB3B3}" type="presParOf" srcId="{3FFD7701-F90F-844C-823B-E2FEE29E2321}" destId="{ED1238FE-3EDB-3A47-8EDE-08201508BE63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3EAA36-0810-FA44-BEE8-3662C16D1020}">
      <dsp:nvSpPr>
        <dsp:cNvPr id="0" name=""/>
        <dsp:cNvSpPr/>
      </dsp:nvSpPr>
      <dsp:spPr>
        <a:xfrm rot="5400000">
          <a:off x="265355" y="630365"/>
          <a:ext cx="587902" cy="669306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36712C-C0F2-2F49-BEAB-5AD3FAEDC5BC}">
      <dsp:nvSpPr>
        <dsp:cNvPr id="0" name=""/>
        <dsp:cNvSpPr/>
      </dsp:nvSpPr>
      <dsp:spPr>
        <a:xfrm>
          <a:off x="109597" y="-21336"/>
          <a:ext cx="989681" cy="692744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kern="1200" baseline="0" dirty="0"/>
            <a:t>Users under the age of 13 are less brand loyal</a:t>
          </a:r>
          <a:endParaRPr lang="en-US" sz="800" kern="1200" dirty="0"/>
        </a:p>
      </dsp:txBody>
      <dsp:txXfrm>
        <a:off x="143420" y="12487"/>
        <a:ext cx="922035" cy="625098"/>
      </dsp:txXfrm>
    </dsp:sp>
    <dsp:sp modelId="{F2A80D83-8BDD-6B4A-AA50-60AF652B6030}">
      <dsp:nvSpPr>
        <dsp:cNvPr id="0" name=""/>
        <dsp:cNvSpPr/>
      </dsp:nvSpPr>
      <dsp:spPr>
        <a:xfrm>
          <a:off x="1099278" y="44732"/>
          <a:ext cx="719799" cy="559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D9CAE6-2BC6-3D43-A12D-E59F231111D1}">
      <dsp:nvSpPr>
        <dsp:cNvPr id="0" name=""/>
        <dsp:cNvSpPr/>
      </dsp:nvSpPr>
      <dsp:spPr>
        <a:xfrm rot="5400000">
          <a:off x="1085906" y="1408546"/>
          <a:ext cx="587902" cy="669306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103B77-83C4-6848-9612-470D80FA3193}">
      <dsp:nvSpPr>
        <dsp:cNvPr id="0" name=""/>
        <dsp:cNvSpPr/>
      </dsp:nvSpPr>
      <dsp:spPr>
        <a:xfrm>
          <a:off x="930148" y="756844"/>
          <a:ext cx="989681" cy="692744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kern="1200" baseline="0" dirty="0"/>
            <a:t>Decrease exposure to COPPA, GDPR, and FTC x COPPA violations</a:t>
          </a:r>
          <a:endParaRPr lang="en-US" sz="800" kern="1200" dirty="0"/>
        </a:p>
      </dsp:txBody>
      <dsp:txXfrm>
        <a:off x="963971" y="790667"/>
        <a:ext cx="922035" cy="625098"/>
      </dsp:txXfrm>
    </dsp:sp>
    <dsp:sp modelId="{CF864242-A35F-EF42-8D58-4BA27898B659}">
      <dsp:nvSpPr>
        <dsp:cNvPr id="0" name=""/>
        <dsp:cNvSpPr/>
      </dsp:nvSpPr>
      <dsp:spPr>
        <a:xfrm>
          <a:off x="1919829" y="822913"/>
          <a:ext cx="719799" cy="559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9D3CB8-B233-4243-B174-74C7B2FCDCD2}">
      <dsp:nvSpPr>
        <dsp:cNvPr id="0" name=""/>
        <dsp:cNvSpPr/>
      </dsp:nvSpPr>
      <dsp:spPr>
        <a:xfrm rot="5400000">
          <a:off x="1906457" y="2186727"/>
          <a:ext cx="587902" cy="669306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9A7465-55C1-1C44-BE17-91103702281D}">
      <dsp:nvSpPr>
        <dsp:cNvPr id="0" name=""/>
        <dsp:cNvSpPr/>
      </dsp:nvSpPr>
      <dsp:spPr>
        <a:xfrm>
          <a:off x="1750699" y="1535026"/>
          <a:ext cx="989681" cy="692744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kern="1200" baseline="0" dirty="0"/>
            <a:t>Age-verified experiences can unlock higher-value monetization</a:t>
          </a:r>
          <a:endParaRPr lang="en-US" sz="800" kern="1200" dirty="0"/>
        </a:p>
      </dsp:txBody>
      <dsp:txXfrm>
        <a:off x="1784522" y="1568849"/>
        <a:ext cx="922035" cy="625098"/>
      </dsp:txXfrm>
    </dsp:sp>
    <dsp:sp modelId="{9744F45D-0754-C248-8D1B-C35BD28638E1}">
      <dsp:nvSpPr>
        <dsp:cNvPr id="0" name=""/>
        <dsp:cNvSpPr/>
      </dsp:nvSpPr>
      <dsp:spPr>
        <a:xfrm>
          <a:off x="2740380" y="1601095"/>
          <a:ext cx="719799" cy="559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1F2FB1-A838-4A44-AC04-6975C1B260CF}">
      <dsp:nvSpPr>
        <dsp:cNvPr id="0" name=""/>
        <dsp:cNvSpPr/>
      </dsp:nvSpPr>
      <dsp:spPr>
        <a:xfrm rot="5400000">
          <a:off x="2727008" y="2964908"/>
          <a:ext cx="587902" cy="669306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768C87-CE2E-6545-93CE-B2ACF4190CEC}">
      <dsp:nvSpPr>
        <dsp:cNvPr id="0" name=""/>
        <dsp:cNvSpPr/>
      </dsp:nvSpPr>
      <dsp:spPr>
        <a:xfrm>
          <a:off x="2571250" y="2313207"/>
          <a:ext cx="989681" cy="692744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kern="1200" baseline="0" dirty="0"/>
            <a:t>For example, In Australia, “loot boxes” requires a mature age rating (15 years+)</a:t>
          </a:r>
          <a:endParaRPr lang="en-US" sz="800" kern="1200" dirty="0"/>
        </a:p>
      </dsp:txBody>
      <dsp:txXfrm>
        <a:off x="2605073" y="2347030"/>
        <a:ext cx="922035" cy="625098"/>
      </dsp:txXfrm>
    </dsp:sp>
    <dsp:sp modelId="{84F7C713-3A35-0944-B4C0-6B9F94652BB7}">
      <dsp:nvSpPr>
        <dsp:cNvPr id="0" name=""/>
        <dsp:cNvSpPr/>
      </dsp:nvSpPr>
      <dsp:spPr>
        <a:xfrm>
          <a:off x="3560931" y="2379276"/>
          <a:ext cx="719799" cy="559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1238FE-3EDB-3A47-8EDE-08201508BE63}">
      <dsp:nvSpPr>
        <dsp:cNvPr id="0" name=""/>
        <dsp:cNvSpPr/>
      </dsp:nvSpPr>
      <dsp:spPr>
        <a:xfrm>
          <a:off x="3391801" y="3091388"/>
          <a:ext cx="989681" cy="692744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kern="1200" baseline="0" dirty="0"/>
            <a:t>Increase in-platform spending from an audience with stronger purchasing power</a:t>
          </a:r>
          <a:endParaRPr lang="en-US" sz="800" kern="1200" dirty="0"/>
        </a:p>
      </dsp:txBody>
      <dsp:txXfrm>
        <a:off x="3425624" y="3125211"/>
        <a:ext cx="922035" cy="6250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46935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0"/>
            <a:ext cx="3173307" cy="467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00" tIns="46911" rIns="93800" bIns="46911" numCol="1" anchor="t" anchorCtr="0" compatLnSpc="1">
            <a:prstTxWarp prst="textNoShape">
              <a:avLst/>
            </a:prstTxWarp>
          </a:bodyPr>
          <a:lstStyle>
            <a:lvl1pPr defTabSz="939773" eaLnBrk="0" hangingPunct="0">
              <a:spcBef>
                <a:spcPct val="0"/>
              </a:spcBef>
              <a:buClrTx/>
              <a:buFontTx/>
              <a:buNone/>
              <a:defRPr sz="1900" b="0">
                <a:latin typeface="Century Gothic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1909" y="0"/>
            <a:ext cx="3173307" cy="467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00" tIns="46911" rIns="93800" bIns="46911" numCol="1" anchor="t" anchorCtr="0" compatLnSpc="1">
            <a:prstTxWarp prst="textNoShape">
              <a:avLst/>
            </a:prstTxWarp>
          </a:bodyPr>
          <a:lstStyle>
            <a:lvl1pPr algn="r" defTabSz="939773" eaLnBrk="0" hangingPunct="0">
              <a:spcBef>
                <a:spcPct val="0"/>
              </a:spcBef>
              <a:buClrTx/>
              <a:buFontTx/>
              <a:buNone/>
              <a:defRPr sz="1900" b="0">
                <a:latin typeface="Century Gothic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8413" y="736600"/>
            <a:ext cx="4795837" cy="3597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65219" y="4567788"/>
            <a:ext cx="5384800" cy="42972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00" tIns="46911" rIns="93800" bIns="4691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9133955"/>
            <a:ext cx="3173307" cy="4672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00" tIns="46911" rIns="93800" bIns="46911" numCol="1" anchor="b" anchorCtr="0" compatLnSpc="1">
            <a:prstTxWarp prst="textNoShape">
              <a:avLst/>
            </a:prstTxWarp>
          </a:bodyPr>
          <a:lstStyle>
            <a:lvl1pPr defTabSz="939773" eaLnBrk="0" hangingPunct="0">
              <a:spcBef>
                <a:spcPct val="0"/>
              </a:spcBef>
              <a:buClrTx/>
              <a:buFontTx/>
              <a:buNone/>
              <a:defRPr sz="1900" b="0">
                <a:latin typeface="Century Gothic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1909" y="9133955"/>
            <a:ext cx="3173307" cy="4672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00" tIns="46911" rIns="93800" bIns="46911" numCol="1" anchor="b" anchorCtr="0" compatLnSpc="1">
            <a:prstTxWarp prst="textNoShape">
              <a:avLst/>
            </a:prstTxWarp>
          </a:bodyPr>
          <a:lstStyle>
            <a:lvl1pPr algn="r" defTabSz="939773" eaLnBrk="0" hangingPunct="0">
              <a:spcBef>
                <a:spcPct val="0"/>
              </a:spcBef>
              <a:buClrTx/>
              <a:buFontTx/>
              <a:buNone/>
              <a:defRPr sz="1900" b="0">
                <a:latin typeface="Century Gothic" pitchFamily="34" charset="0"/>
              </a:defRPr>
            </a:lvl1pPr>
          </a:lstStyle>
          <a:p>
            <a:pPr>
              <a:defRPr/>
            </a:pPr>
            <a:fld id="{8A41ECB6-B212-4066-BEEA-742F375341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68727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41ECB6-B212-4066-BEEA-742F37534155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4867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41ECB6-B212-4066-BEEA-742F37534155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7994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5851E-2AA3-6450-B423-81D16599D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00F132-9985-73EF-983F-0DA61F3EBF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B523D0-5EE0-3B97-B26E-733D2AB67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9EB0C-6B1A-85A6-75FB-2E8956C8A4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41ECB6-B212-4066-BEEA-742F37534155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73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049C7-FA05-A37D-9679-609C268C6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31035E-1292-202C-82EB-1097F03565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9D2167-5DFA-78EE-BC40-58E9FB026E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2DB9C1-5D96-6F21-7DC3-2CEC19263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41ECB6-B212-4066-BEEA-742F37534155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5544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95419-0E54-4948-CC06-09418FC3E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A46E66-095D-9EF6-FE65-F9E2389C7C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F5116F-6CEF-0C51-442E-3989F3CF03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3136F1-0A21-A6BD-2910-F0A4855C3A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41ECB6-B212-4066-BEEA-742F37534155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2340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B39BA-7D19-E59B-B079-954CEEF19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672688-0E97-7451-A305-67C426FF1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CEB6AF-241A-1225-135A-DCF806A1D9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D2E22-8E3F-A99C-0B0E-CA0ED96F8A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41ECB6-B212-4066-BEEA-742F37534155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298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5.png"/><Relationship Id="rId5" Type="http://schemas.openxmlformats.org/officeDocument/2006/relationships/image" Target="../media/image4.emf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6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5.png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7C9AFA96-33F9-8AB5-22BB-88A2F29E966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4148146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C9AFA96-33F9-8AB5-22BB-88A2F29E96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3763" name="Rectangle 3"/>
          <p:cNvSpPr>
            <a:spLocks noGrp="1" noChangeArrowheads="1"/>
          </p:cNvSpPr>
          <p:nvPr>
            <p:ph type="ctrTitle"/>
          </p:nvPr>
        </p:nvSpPr>
        <p:spPr bwMode="white">
          <a:xfrm>
            <a:off x="2625725" y="3954463"/>
            <a:ext cx="5927725" cy="731837"/>
          </a:xfrm>
          <a:prstGeom prst="rect">
            <a:avLst/>
          </a:prstGeom>
        </p:spPr>
        <p:txBody>
          <a:bodyPr vert="horz" anchor="b"/>
          <a:lstStyle>
            <a:lvl1pPr algn="r">
              <a:defRPr sz="26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73765" name="Rectangle 5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4149725" y="4686300"/>
            <a:ext cx="4403725" cy="509588"/>
          </a:xfrm>
          <a:prstGeom prst="rect">
            <a:avLst/>
          </a:prstGeo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92633998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8834601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Do not remove" hidden="1">
            <a:extLst>
              <a:ext uri="{FF2B5EF4-FFF2-40B4-BE49-F238E27FC236}">
                <a16:creationId xmlns:a16="http://schemas.microsoft.com/office/drawing/2014/main" id="{3F400C92-707C-589C-24BD-FB4B42C34125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2700" cy="12700"/>
          </a:xfrm>
          <a:prstGeom prst="octagon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accent2"/>
              </a:solidFill>
              <a:effectLst/>
              <a:latin typeface="Century Gothic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025" y="28875"/>
            <a:ext cx="8340725" cy="663575"/>
          </a:xfrm>
          <a:prstGeom prst="rect">
            <a:avLst/>
          </a:prstGeom>
        </p:spPr>
        <p:txBody>
          <a:bodyPr vert="horz" anchor="ctr"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812" y="1311405"/>
            <a:ext cx="8258175" cy="4777498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Clr>
                <a:schemeClr val="accent1"/>
              </a:buClr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buClr>
                <a:schemeClr val="accent1"/>
              </a:buClr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buClr>
                <a:schemeClr val="accent1"/>
              </a:buClr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buClr>
                <a:schemeClr val="accent1"/>
              </a:buClr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79427" y="6490494"/>
            <a:ext cx="1450975" cy="234950"/>
          </a:xfrm>
          <a:prstGeom prst="rect">
            <a:avLst/>
          </a:prstGeom>
          <a:ln/>
        </p:spPr>
        <p:txBody>
          <a:bodyPr anchor="ctr"/>
          <a:lstStyle>
            <a:lvl1pPr algn="r">
              <a:defRPr sz="1200" b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fld id="{B9B68892-2354-4B4F-931D-9682A5A54ACA}" type="slidenum">
              <a:rPr lang="en-US" smtClean="0"/>
              <a:pPr>
                <a:defRPr/>
              </a:pPr>
              <a:t>‹#›</a:t>
            </a:fld>
            <a:r>
              <a:rPr lang="en-US"/>
              <a:t> | Confidential</a:t>
            </a:r>
          </a:p>
        </p:txBody>
      </p:sp>
      <p:sp>
        <p:nvSpPr>
          <p:cNvPr id="5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905625"/>
            <a:ext cx="9144000" cy="234950"/>
          </a:xfrm>
          <a:prstGeom prst="rect">
            <a:avLst/>
          </a:prstGeom>
          <a:ln/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Confidential                                                                                                                        		         Do Not Duplicate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B33691-3569-7563-022D-4CBCE0CD2358}"/>
              </a:ext>
            </a:extLst>
          </p:cNvPr>
          <p:cNvSpPr/>
          <p:nvPr userDrawn="1"/>
        </p:nvSpPr>
        <p:spPr bwMode="auto">
          <a:xfrm>
            <a:off x="327025" y="6400800"/>
            <a:ext cx="1660801" cy="41433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accent2"/>
              </a:solidFill>
              <a:effectLst/>
              <a:latin typeface="Century Gothic" pitchFamily="34" charset="0"/>
            </a:endParaRPr>
          </a:p>
        </p:txBody>
      </p:sp>
      <p:pic>
        <p:nvPicPr>
          <p:cNvPr id="1026" name="Picture 2" descr="YSIG">
            <a:extLst>
              <a:ext uri="{FF2B5EF4-FFF2-40B4-BE49-F238E27FC236}">
                <a16:creationId xmlns:a16="http://schemas.microsoft.com/office/drawing/2014/main" id="{04720168-7387-3B3E-ADEB-E0C69893176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13" y="6443976"/>
            <a:ext cx="804791" cy="339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ADF957F-F338-0429-B603-D34E7A27CB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4811" y="647830"/>
            <a:ext cx="8258175" cy="663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i="1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4050124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9655691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Do not remove" hidden="1">
            <a:extLst>
              <a:ext uri="{FF2B5EF4-FFF2-40B4-BE49-F238E27FC236}">
                <a16:creationId xmlns:a16="http://schemas.microsoft.com/office/drawing/2014/main" id="{3F400C92-707C-589C-24BD-FB4B42C34125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2700" cy="12700"/>
          </a:xfrm>
          <a:prstGeom prst="octagon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accent2"/>
              </a:solidFill>
              <a:effectLst/>
              <a:latin typeface="Century Gothic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025" y="28875"/>
            <a:ext cx="8340725" cy="663575"/>
          </a:xfrm>
          <a:prstGeom prst="rect">
            <a:avLst/>
          </a:prstGeom>
        </p:spPr>
        <p:txBody>
          <a:bodyPr vert="horz" anchor="ctr"/>
          <a:lstStyle>
            <a:lvl1pPr>
              <a:defRPr sz="240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79427" y="6490494"/>
            <a:ext cx="1450975" cy="234950"/>
          </a:xfrm>
          <a:prstGeom prst="rect">
            <a:avLst/>
          </a:prstGeom>
          <a:ln/>
        </p:spPr>
        <p:txBody>
          <a:bodyPr anchor="ctr"/>
          <a:lstStyle>
            <a:lvl1pPr algn="r">
              <a:defRPr sz="1200" b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fld id="{B9B68892-2354-4B4F-931D-9682A5A54ACA}" type="slidenum">
              <a:rPr lang="en-US" smtClean="0"/>
              <a:pPr>
                <a:defRPr/>
              </a:pPr>
              <a:t>‹#›</a:t>
            </a:fld>
            <a:r>
              <a:rPr lang="en-US"/>
              <a:t> | Confidential</a:t>
            </a:r>
          </a:p>
        </p:txBody>
      </p:sp>
      <p:sp>
        <p:nvSpPr>
          <p:cNvPr id="5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905625"/>
            <a:ext cx="9144000" cy="234950"/>
          </a:xfrm>
          <a:prstGeom prst="rect">
            <a:avLst/>
          </a:prstGeom>
          <a:ln/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Confidential                                                                                                                        		         Do Not Duplicate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B33691-3569-7563-022D-4CBCE0CD2358}"/>
              </a:ext>
            </a:extLst>
          </p:cNvPr>
          <p:cNvSpPr/>
          <p:nvPr userDrawn="1"/>
        </p:nvSpPr>
        <p:spPr bwMode="auto">
          <a:xfrm>
            <a:off x="327025" y="6400800"/>
            <a:ext cx="1660801" cy="41433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accent2"/>
              </a:solidFill>
              <a:effectLst/>
              <a:latin typeface="Century Gothic" pitchFamily="34" charset="0"/>
            </a:endParaRPr>
          </a:p>
        </p:txBody>
      </p:sp>
      <p:pic>
        <p:nvPicPr>
          <p:cNvPr id="1026" name="Picture 2" descr="YSIG">
            <a:extLst>
              <a:ext uri="{FF2B5EF4-FFF2-40B4-BE49-F238E27FC236}">
                <a16:creationId xmlns:a16="http://schemas.microsoft.com/office/drawing/2014/main" id="{04720168-7387-3B3E-ADEB-E0C69893176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13" y="6443976"/>
            <a:ext cx="804791" cy="339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Content Placeholder 8" descr="A line of yellow dots&#10;&#10;Description automatically generated">
            <a:extLst>
              <a:ext uri="{FF2B5EF4-FFF2-40B4-BE49-F238E27FC236}">
                <a16:creationId xmlns:a16="http://schemas.microsoft.com/office/drawing/2014/main" id="{9C6EC2F4-64F3-ED78-5A45-48233BDE58E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8695" y="112499"/>
            <a:ext cx="451707" cy="451707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49BAD5B-990D-4EE2-32E7-2C25B5F9F2A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04813" y="1323755"/>
            <a:ext cx="3263804" cy="0"/>
          </a:xfrm>
          <a:prstGeom prst="line">
            <a:avLst/>
          </a:prstGeom>
          <a:ln w="19050"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1F5CD982-F92E-3A24-6D5B-3121A68B0F5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4621" y="982442"/>
            <a:ext cx="3263900" cy="341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18">
            <a:extLst>
              <a:ext uri="{FF2B5EF4-FFF2-40B4-BE49-F238E27FC236}">
                <a16:creationId xmlns:a16="http://schemas.microsoft.com/office/drawing/2014/main" id="{CF60955C-C14D-224B-FF2B-A3A4111AEF1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74669" y="982443"/>
            <a:ext cx="3263900" cy="341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3" name="Content Placeholder 18">
            <a:extLst>
              <a:ext uri="{FF2B5EF4-FFF2-40B4-BE49-F238E27FC236}">
                <a16:creationId xmlns:a16="http://schemas.microsoft.com/office/drawing/2014/main" id="{A766FC78-7A7F-5F41-9417-281AEDF379D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4717" y="3429000"/>
            <a:ext cx="3263900" cy="341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4" name="Content Placeholder 18">
            <a:extLst>
              <a:ext uri="{FF2B5EF4-FFF2-40B4-BE49-F238E27FC236}">
                <a16:creationId xmlns:a16="http://schemas.microsoft.com/office/drawing/2014/main" id="{379091B7-0071-DB14-3AC4-2D4A2E5E60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74669" y="3429000"/>
            <a:ext cx="3263900" cy="341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04D751D-63E3-AE86-FAC5-4E0325242FC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274765" y="1345683"/>
            <a:ext cx="3263804" cy="0"/>
          </a:xfrm>
          <a:prstGeom prst="line">
            <a:avLst/>
          </a:prstGeom>
          <a:ln w="19050"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38F4982-6444-08E2-3D9C-C71F8AD25DE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04717" y="3770312"/>
            <a:ext cx="3263804" cy="0"/>
          </a:xfrm>
          <a:prstGeom prst="line">
            <a:avLst/>
          </a:prstGeom>
          <a:ln w="19050"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71C4D3E-7D22-3F9E-7289-FAC50D5760D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274669" y="3770312"/>
            <a:ext cx="3263804" cy="0"/>
          </a:xfrm>
          <a:prstGeom prst="line">
            <a:avLst/>
          </a:prstGeom>
          <a:ln w="19050"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539102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heme" Target="../theme/theme1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652577214"/>
              </p:ext>
            </p:ext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60" imgH="360" progId="TCLayout.ActiveDocument.1">
                  <p:embed/>
                </p:oleObj>
              </mc:Choice>
              <mc:Fallback>
                <p:oleObj name="think-cell Slide" r:id="rId7" imgW="360" imgH="360" progId="TCLayout.ActiveDocument.1">
                  <p:embed/>
                  <p:pic>
                    <p:nvPicPr>
                      <p:cNvPr id="8" name="Object 7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848A2729-D4CB-4650-82B8-43D04DBA355B}"/>
              </a:ext>
            </a:extLst>
          </p:cNvPr>
          <p:cNvSpPr/>
          <p:nvPr userDrawn="1">
            <p:custDataLst>
              <p:tags r:id="rId6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spcCol="0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200" b="1" i="0" u="none" strike="noStrike" cap="none" normalizeH="0" baseline="0">
              <a:ln>
                <a:noFill/>
              </a:ln>
              <a:solidFill>
                <a:schemeClr val="accent2"/>
              </a:solidFill>
              <a:effectLst/>
              <a:latin typeface="Century Gothic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pic>
        <p:nvPicPr>
          <p:cNvPr id="6146" name="Picture 37" descr="Header"/>
          <p:cNvPicPr>
            <a:picLocks noChangeAspect="1" noChangeArrowheads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722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5463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9" r:id="rId3"/>
  </p:sldLayoutIdLst>
  <p:transition>
    <p:fade/>
  </p:transition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Century Gothic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Century Gothic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Century Gothic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Century Gothic" pitchFamily="34" charset="0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Century Gothic" pitchFamily="34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Century Gothic" pitchFamily="34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Century Gothic" pitchFamily="34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Century Gothic" pitchFamily="34" charset="0"/>
        </a:defRPr>
      </a:lvl9pPr>
    </p:titleStyle>
    <p:bodyStyle>
      <a:lvl1pPr marL="174625" indent="-174625" algn="l" rtl="0" eaLnBrk="0" fontAlgn="base" hangingPunct="0">
        <a:spcBef>
          <a:spcPct val="30000"/>
        </a:spcBef>
        <a:spcAft>
          <a:spcPct val="0"/>
        </a:spcAft>
        <a:buClr>
          <a:schemeClr val="tx2"/>
        </a:buClr>
        <a:buChar char="•"/>
        <a:defRPr sz="2000">
          <a:solidFill>
            <a:srgbClr val="4C4C4C"/>
          </a:solidFill>
          <a:latin typeface="+mn-lt"/>
          <a:ea typeface="+mn-ea"/>
          <a:cs typeface="+mn-cs"/>
        </a:defRPr>
      </a:lvl1pPr>
      <a:lvl2pPr marL="463550" indent="-174625" algn="l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chemeClr val="tx2"/>
        </a:buClr>
        <a:buFont typeface="Century Gothic" pitchFamily="34" charset="0"/>
        <a:buChar char="–"/>
        <a:defRPr>
          <a:solidFill>
            <a:srgbClr val="4C4C4C"/>
          </a:solidFill>
          <a:latin typeface="+mn-lt"/>
        </a:defRPr>
      </a:lvl2pPr>
      <a:lvl3pPr marL="760413" indent="-182563" algn="l" rtl="0" eaLnBrk="0" fontAlgn="base" hangingPunct="0">
        <a:spcBef>
          <a:spcPct val="30000"/>
        </a:spcBef>
        <a:spcAft>
          <a:spcPct val="0"/>
        </a:spcAft>
        <a:buClr>
          <a:schemeClr val="tx2"/>
        </a:buClr>
        <a:buChar char="•"/>
        <a:defRPr sz="1600">
          <a:solidFill>
            <a:srgbClr val="4C4C4C"/>
          </a:solidFill>
          <a:latin typeface="+mn-lt"/>
        </a:defRPr>
      </a:lvl3pPr>
      <a:lvl4pPr marL="1087438" indent="-212725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Century Gothic" pitchFamily="34" charset="0"/>
        <a:buChar char="―"/>
        <a:defRPr sz="1400">
          <a:solidFill>
            <a:srgbClr val="4C4C4C"/>
          </a:solidFill>
          <a:latin typeface="+mn-lt"/>
        </a:defRPr>
      </a:lvl4pPr>
      <a:lvl5pPr marL="1376363" indent="-174625" algn="l" rtl="0" eaLnBrk="0" fontAlgn="base" hangingPunct="0">
        <a:spcBef>
          <a:spcPct val="50000"/>
        </a:spcBef>
        <a:spcAft>
          <a:spcPct val="0"/>
        </a:spcAft>
        <a:buClr>
          <a:schemeClr val="tx2"/>
        </a:buClr>
        <a:buFont typeface="Century Gothic" pitchFamily="34" charset="0"/>
        <a:buChar char="•"/>
        <a:defRPr sz="1200">
          <a:solidFill>
            <a:srgbClr val="4C4C4C"/>
          </a:solidFill>
          <a:latin typeface="+mn-lt"/>
        </a:defRPr>
      </a:lvl5pPr>
      <a:lvl6pPr marL="1833563" indent="-174625" algn="l" rtl="0" eaLnBrk="0" fontAlgn="base" hangingPunct="0">
        <a:spcBef>
          <a:spcPct val="50000"/>
        </a:spcBef>
        <a:spcAft>
          <a:spcPct val="0"/>
        </a:spcAft>
        <a:buClr>
          <a:schemeClr val="tx2"/>
        </a:buClr>
        <a:buFont typeface="Century Gothic" pitchFamily="34" charset="0"/>
        <a:buChar char="•"/>
        <a:defRPr sz="1200">
          <a:solidFill>
            <a:srgbClr val="4C4C4C"/>
          </a:solidFill>
          <a:latin typeface="+mn-lt"/>
        </a:defRPr>
      </a:lvl6pPr>
      <a:lvl7pPr marL="2290763" indent="-174625" algn="l" rtl="0" eaLnBrk="0" fontAlgn="base" hangingPunct="0">
        <a:spcBef>
          <a:spcPct val="50000"/>
        </a:spcBef>
        <a:spcAft>
          <a:spcPct val="0"/>
        </a:spcAft>
        <a:buClr>
          <a:schemeClr val="tx2"/>
        </a:buClr>
        <a:buFont typeface="Century Gothic" pitchFamily="34" charset="0"/>
        <a:buChar char="•"/>
        <a:defRPr sz="1200">
          <a:solidFill>
            <a:srgbClr val="4C4C4C"/>
          </a:solidFill>
          <a:latin typeface="+mn-lt"/>
        </a:defRPr>
      </a:lvl7pPr>
      <a:lvl8pPr marL="2747963" indent="-174625" algn="l" rtl="0" eaLnBrk="0" fontAlgn="base" hangingPunct="0">
        <a:spcBef>
          <a:spcPct val="50000"/>
        </a:spcBef>
        <a:spcAft>
          <a:spcPct val="0"/>
        </a:spcAft>
        <a:buClr>
          <a:schemeClr val="tx2"/>
        </a:buClr>
        <a:buFont typeface="Century Gothic" pitchFamily="34" charset="0"/>
        <a:buChar char="•"/>
        <a:defRPr sz="1200">
          <a:solidFill>
            <a:srgbClr val="4C4C4C"/>
          </a:solidFill>
          <a:latin typeface="+mn-lt"/>
        </a:defRPr>
      </a:lvl8pPr>
      <a:lvl9pPr marL="3205163" indent="-174625" algn="l" rtl="0" eaLnBrk="0" fontAlgn="base" hangingPunct="0">
        <a:spcBef>
          <a:spcPct val="50000"/>
        </a:spcBef>
        <a:spcAft>
          <a:spcPct val="0"/>
        </a:spcAft>
        <a:buClr>
          <a:schemeClr val="tx2"/>
        </a:buClr>
        <a:buFont typeface="Century Gothic" pitchFamily="34" charset="0"/>
        <a:buChar char="•"/>
        <a:defRPr sz="1200">
          <a:solidFill>
            <a:srgbClr val="4C4C4C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5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5.bin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9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3.png"/><Relationship Id="rId2" Type="http://schemas.openxmlformats.org/officeDocument/2006/relationships/tags" Target="../tags/tag1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2.png"/><Relationship Id="rId5" Type="http://schemas.openxmlformats.org/officeDocument/2006/relationships/image" Target="../media/image9.emf"/><Relationship Id="rId4" Type="http://schemas.openxmlformats.org/officeDocument/2006/relationships/oleObject" Target="../embeddings/oleObject6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9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5" Type="http://schemas.openxmlformats.org/officeDocument/2006/relationships/image" Target="../media/image17.png"/><Relationship Id="rId4" Type="http://schemas.openxmlformats.org/officeDocument/2006/relationships/image" Target="../media/image9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oleObject" Target="../embeddings/oleObject6.bin"/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9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6" Type="http://schemas.openxmlformats.org/officeDocument/2006/relationships/image" Target="../media/image22.png"/><Relationship Id="rId5" Type="http://schemas.openxmlformats.org/officeDocument/2006/relationships/image" Target="../media/image9.emf"/><Relationship Id="rId4" Type="http://schemas.openxmlformats.org/officeDocument/2006/relationships/oleObject" Target="../embeddings/oleObject6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6" Type="http://schemas.openxmlformats.org/officeDocument/2006/relationships/image" Target="../media/image23.jpg"/><Relationship Id="rId5" Type="http://schemas.openxmlformats.org/officeDocument/2006/relationships/image" Target="../media/image9.emf"/><Relationship Id="rId4" Type="http://schemas.openxmlformats.org/officeDocument/2006/relationships/oleObject" Target="../embeddings/oleObject6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notesSlide" Target="../notesSlides/notesSlide4.xml"/><Relationship Id="rId7" Type="http://schemas.openxmlformats.org/officeDocument/2006/relationships/diagramLayout" Target="../diagrams/layout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6" Type="http://schemas.openxmlformats.org/officeDocument/2006/relationships/diagramData" Target="../diagrams/data1.xml"/><Relationship Id="rId11" Type="http://schemas.openxmlformats.org/officeDocument/2006/relationships/image" Target="../media/image24.png"/><Relationship Id="rId5" Type="http://schemas.openxmlformats.org/officeDocument/2006/relationships/image" Target="../media/image9.emf"/><Relationship Id="rId10" Type="http://schemas.microsoft.com/office/2007/relationships/diagramDrawing" Target="../diagrams/drawing1.xml"/><Relationship Id="rId4" Type="http://schemas.openxmlformats.org/officeDocument/2006/relationships/oleObject" Target="../embeddings/oleObject6.bin"/><Relationship Id="rId9" Type="http://schemas.openxmlformats.org/officeDocument/2006/relationships/diagramColors" Target="../diagrams/colors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2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6" Type="http://schemas.openxmlformats.org/officeDocument/2006/relationships/image" Target="../media/image25.png"/><Relationship Id="rId5" Type="http://schemas.openxmlformats.org/officeDocument/2006/relationships/image" Target="../media/image9.e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2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6" Type="http://schemas.openxmlformats.org/officeDocument/2006/relationships/image" Target="../media/image29.jpeg"/><Relationship Id="rId5" Type="http://schemas.openxmlformats.org/officeDocument/2006/relationships/image" Target="../media/image9.emf"/><Relationship Id="rId4" Type="http://schemas.openxmlformats.org/officeDocument/2006/relationships/oleObject" Target="../embeddings/oleObject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018711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6D4DF33E-5423-4E0C-8253-821C61FA83CD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spcCol="0" rtlCol="0" anchor="t" anchorCtr="0" compatLnSpc="1">
            <a:prstTxWarp prst="textNoShape">
              <a:avLst/>
            </a:prstTxWarp>
            <a:noAutofit/>
          </a:bodyPr>
          <a:lstStyle/>
          <a:p>
            <a:pPr algn="r" eaLnBrk="0" hangingPunct="0">
              <a:lnSpc>
                <a:spcPct val="90000"/>
              </a:lnSpc>
            </a:pPr>
            <a:endParaRPr kumimoji="0" lang="en-US" sz="2600" u="none" strike="noStrike" cap="none" normalizeH="0">
              <a:ln>
                <a:noFill/>
              </a:ln>
              <a:solidFill>
                <a:schemeClr val="accent2"/>
              </a:solidFill>
              <a:effectLst/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1984" y="317660"/>
            <a:ext cx="5927725" cy="1477703"/>
          </a:xfrm>
        </p:spPr>
        <p:txBody>
          <a:bodyPr vert="horz" lIns="91440" tIns="45720" rIns="91440" bIns="45720" anchor="ctr"/>
          <a:lstStyle/>
          <a:p>
            <a:pPr algn="l"/>
            <a:r>
              <a:rPr lang="en-US" sz="4400" b="0">
                <a:solidFill>
                  <a:srgbClr val="D72009"/>
                </a:solidFill>
                <a:latin typeface="Calibri"/>
                <a:cs typeface="Calibri"/>
              </a:rPr>
              <a:t>ROBLOX</a:t>
            </a:r>
            <a:r>
              <a:rPr lang="en-US" sz="4400" b="0">
                <a:latin typeface="Calibri"/>
                <a:cs typeface="Calibri"/>
              </a:rPr>
              <a:t> (NYSE: RBLX)</a:t>
            </a:r>
            <a:br>
              <a:rPr lang="en-US" sz="4800" b="0">
                <a:latin typeface="Calibri"/>
                <a:cs typeface="Calibri"/>
              </a:rPr>
            </a:br>
            <a:r>
              <a:rPr lang="en-US" sz="3200" b="0" i="1">
                <a:latin typeface="Calibri"/>
                <a:cs typeface="Calibri"/>
              </a:rPr>
              <a:t>Long Recommendation</a:t>
            </a:r>
            <a:endParaRPr lang="en-US" sz="3600" b="0" i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16403" y="6473033"/>
            <a:ext cx="2027597" cy="384967"/>
          </a:xfrm>
        </p:spPr>
        <p:txBody>
          <a:bodyPr lIns="91440" tIns="45720" rIns="91440" bIns="45720" anchor="t"/>
          <a:lstStyle/>
          <a:p>
            <a:pPr algn="l"/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cs typeface="Calibri"/>
              </a:rPr>
              <a:t>November 17</a:t>
            </a:r>
            <a:r>
              <a:rPr lang="en-US" sz="1400" baseline="300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cs typeface="Calibri"/>
              </a:rPr>
              <a:t>th</a:t>
            </a:r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cs typeface="Calibri"/>
              </a:rPr>
              <a:t>,2025 </a:t>
            </a:r>
            <a:endParaRPr 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0" name="Picture 2" descr="YSIG">
            <a:extLst>
              <a:ext uri="{FF2B5EF4-FFF2-40B4-BE49-F238E27FC236}">
                <a16:creationId xmlns:a16="http://schemas.microsoft.com/office/drawing/2014/main" id="{7594C51C-A2B5-7C77-FF9D-5DB1F8A36A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8137" y="317660"/>
            <a:ext cx="2446183" cy="1030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Subtitle 2">
            <a:extLst>
              <a:ext uri="{FF2B5EF4-FFF2-40B4-BE49-F238E27FC236}">
                <a16:creationId xmlns:a16="http://schemas.microsoft.com/office/drawing/2014/main" id="{CAD3FFC8-6563-C598-2CB6-CB9E731A10BF}"/>
              </a:ext>
            </a:extLst>
          </p:cNvPr>
          <p:cNvSpPr txBox="1">
            <a:spLocks/>
          </p:cNvSpPr>
          <p:nvPr/>
        </p:nvSpPr>
        <p:spPr bwMode="white">
          <a:xfrm>
            <a:off x="6242623" y="1362093"/>
            <a:ext cx="2586478" cy="384967"/>
          </a:xfrm>
          <a:prstGeom prst="rect">
            <a:avLst/>
          </a:prstGeom>
        </p:spPr>
        <p:txBody>
          <a:bodyPr lIns="91440" tIns="45720" rIns="91440" bIns="45720" anchor="ctr"/>
          <a:lstStyle>
            <a:lvl1pPr marL="0" indent="0" algn="r" rtl="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Tx/>
              <a:buNone/>
              <a:defRPr sz="20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63550" indent="-174625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–"/>
              <a:defRPr>
                <a:solidFill>
                  <a:srgbClr val="4C4C4C"/>
                </a:solidFill>
                <a:latin typeface="+mn-lt"/>
              </a:defRPr>
            </a:lvl2pPr>
            <a:lvl3pPr marL="760413" indent="-182563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Char char="•"/>
              <a:defRPr sz="1600">
                <a:solidFill>
                  <a:srgbClr val="4C4C4C"/>
                </a:solidFill>
                <a:latin typeface="+mn-lt"/>
              </a:defRPr>
            </a:lvl3pPr>
            <a:lvl4pPr marL="1087438" indent="-212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Century Gothic" pitchFamily="34" charset="0"/>
              <a:buChar char="―"/>
              <a:defRPr sz="1400">
                <a:solidFill>
                  <a:srgbClr val="4C4C4C"/>
                </a:solidFill>
                <a:latin typeface="+mn-lt"/>
              </a:defRPr>
            </a:lvl4pPr>
            <a:lvl5pPr marL="1376363" indent="-17462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•"/>
              <a:defRPr sz="1200">
                <a:solidFill>
                  <a:srgbClr val="4C4C4C"/>
                </a:solidFill>
                <a:latin typeface="+mn-lt"/>
              </a:defRPr>
            </a:lvl5pPr>
            <a:lvl6pPr marL="1833563" indent="-17462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•"/>
              <a:defRPr sz="1200">
                <a:solidFill>
                  <a:srgbClr val="4C4C4C"/>
                </a:solidFill>
                <a:latin typeface="+mn-lt"/>
              </a:defRPr>
            </a:lvl6pPr>
            <a:lvl7pPr marL="2290763" indent="-17462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•"/>
              <a:defRPr sz="1200">
                <a:solidFill>
                  <a:srgbClr val="4C4C4C"/>
                </a:solidFill>
                <a:latin typeface="+mn-lt"/>
              </a:defRPr>
            </a:lvl7pPr>
            <a:lvl8pPr marL="2747963" indent="-17462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•"/>
              <a:defRPr sz="1200">
                <a:solidFill>
                  <a:srgbClr val="4C4C4C"/>
                </a:solidFill>
                <a:latin typeface="+mn-lt"/>
              </a:defRPr>
            </a:lvl8pPr>
            <a:lvl9pPr marL="3205163" indent="-17462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•"/>
              <a:defRPr sz="1200">
                <a:solidFill>
                  <a:srgbClr val="4C4C4C"/>
                </a:solidFill>
                <a:latin typeface="+mn-lt"/>
              </a:defRPr>
            </a:lvl9pPr>
          </a:lstStyle>
          <a:p>
            <a:pPr algn="ctr"/>
            <a:r>
              <a:rPr lang="en-US" sz="2400" kern="0">
                <a:solidFill>
                  <a:schemeClr val="accent1"/>
                </a:solidFill>
                <a:latin typeface="Calibri"/>
                <a:cs typeface="Calibri"/>
              </a:rPr>
              <a:t>Media &amp; Telecoms</a:t>
            </a:r>
            <a:endParaRPr lang="en-US" sz="2400" kern="0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C423E7-F1F0-5F0C-01D5-E64D9BCFAA3F}"/>
              </a:ext>
            </a:extLst>
          </p:cNvPr>
          <p:cNvSpPr txBox="1"/>
          <p:nvPr/>
        </p:nvSpPr>
        <p:spPr>
          <a:xfrm>
            <a:off x="-468351" y="2531327"/>
            <a:ext cx="184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US" sz="1600" b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B761D4-36CD-7C85-81A9-2B40CCE1EACE}"/>
              </a:ext>
            </a:extLst>
          </p:cNvPr>
          <p:cNvSpPr txBox="1"/>
          <p:nvPr/>
        </p:nvSpPr>
        <p:spPr>
          <a:xfrm>
            <a:off x="7898860" y="3521413"/>
            <a:ext cx="184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US" sz="1600" b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Picture 15" descr="A group of people in a line&#10;&#10;AI-generated content may be incorrect.">
            <a:extLst>
              <a:ext uri="{FF2B5EF4-FFF2-40B4-BE49-F238E27FC236}">
                <a16:creationId xmlns:a16="http://schemas.microsoft.com/office/drawing/2014/main" id="{559AC83E-D1CA-5B50-B768-4D7367CFD0E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961170"/>
            <a:ext cx="7620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75876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8EA2A-A5DF-6149-0530-E60E4C9A5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D7C27B93-3028-512E-4361-2439A2E5EEF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9BA5B54-C372-8BA6-E30D-AB259E89F3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E37682A-B705-7E56-62B7-C1C022F70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Revenue Breakdown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E6E3DF-4ECE-0662-F12B-1D19A3AADE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B68892-2354-4B4F-931D-9682A5A54ACA}" type="slidenum">
              <a:rPr lang="en-US" smtClean="0"/>
              <a:pPr>
                <a:defRPr/>
              </a:pPr>
              <a:t>2</a:t>
            </a:fld>
            <a:r>
              <a:rPr lang="en-US"/>
              <a:t> | Confidential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648EA2-D3B8-EFF2-02AA-A5DF498B71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8299" y="1114174"/>
            <a:ext cx="8258175" cy="955258"/>
          </a:xfrm>
        </p:spPr>
        <p:txBody>
          <a:bodyPr/>
          <a:lstStyle/>
          <a:p>
            <a:r>
              <a:rPr lang="en-US" sz="2400" i="0" dirty="0">
                <a:solidFill>
                  <a:schemeClr val="tx1"/>
                </a:solidFill>
              </a:rPr>
              <a:t>Gross revenue and gross bookings have increased quarter over quarter.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79860B2-FAED-F210-0122-227936D5C5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130" y="2201280"/>
            <a:ext cx="4345595" cy="20723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166C30C-628E-80EB-0D47-8B14C0C23E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2201280"/>
            <a:ext cx="4577026" cy="2110791"/>
          </a:xfrm>
          <a:prstGeom prst="rect">
            <a:avLst/>
          </a:prstGeom>
        </p:spPr>
      </p:pic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BCFAB0E8-0BD2-DBA8-244E-9BCAB0721A6D}"/>
              </a:ext>
            </a:extLst>
          </p:cNvPr>
          <p:cNvSpPr txBox="1">
            <a:spLocks/>
          </p:cNvSpPr>
          <p:nvPr/>
        </p:nvSpPr>
        <p:spPr>
          <a:xfrm>
            <a:off x="327025" y="4901545"/>
            <a:ext cx="8258175" cy="95525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None/>
              <a:defRPr sz="2000" i="1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63550" indent="-174625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–"/>
              <a:defRPr>
                <a:solidFill>
                  <a:srgbClr val="4C4C4C"/>
                </a:solidFill>
                <a:latin typeface="+mn-lt"/>
              </a:defRPr>
            </a:lvl2pPr>
            <a:lvl3pPr marL="760413" indent="-182563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Char char="•"/>
              <a:defRPr sz="1600">
                <a:solidFill>
                  <a:srgbClr val="4C4C4C"/>
                </a:solidFill>
                <a:latin typeface="+mn-lt"/>
              </a:defRPr>
            </a:lvl3pPr>
            <a:lvl4pPr marL="1087438" indent="-212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Century Gothic" pitchFamily="34" charset="0"/>
              <a:buChar char="―"/>
              <a:defRPr sz="1400">
                <a:solidFill>
                  <a:srgbClr val="4C4C4C"/>
                </a:solidFill>
                <a:latin typeface="+mn-lt"/>
              </a:defRPr>
            </a:lvl4pPr>
            <a:lvl5pPr marL="1376363" indent="-17462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•"/>
              <a:defRPr sz="1200">
                <a:solidFill>
                  <a:srgbClr val="4C4C4C"/>
                </a:solidFill>
                <a:latin typeface="+mn-lt"/>
              </a:defRPr>
            </a:lvl5pPr>
            <a:lvl6pPr marL="1833563" indent="-17462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•"/>
              <a:defRPr sz="1200">
                <a:solidFill>
                  <a:srgbClr val="4C4C4C"/>
                </a:solidFill>
                <a:latin typeface="+mn-lt"/>
              </a:defRPr>
            </a:lvl6pPr>
            <a:lvl7pPr marL="2290763" indent="-17462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•"/>
              <a:defRPr sz="1200">
                <a:solidFill>
                  <a:srgbClr val="4C4C4C"/>
                </a:solidFill>
                <a:latin typeface="+mn-lt"/>
              </a:defRPr>
            </a:lvl7pPr>
            <a:lvl8pPr marL="2747963" indent="-17462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•"/>
              <a:defRPr sz="1200">
                <a:solidFill>
                  <a:srgbClr val="4C4C4C"/>
                </a:solidFill>
                <a:latin typeface="+mn-lt"/>
              </a:defRPr>
            </a:lvl8pPr>
            <a:lvl9pPr marL="3205163" indent="-17462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•"/>
              <a:defRPr sz="1200">
                <a:solidFill>
                  <a:srgbClr val="4C4C4C"/>
                </a:solidFill>
                <a:latin typeface="+mn-lt"/>
              </a:defRPr>
            </a:lvl9pPr>
          </a:lstStyle>
          <a:p>
            <a:r>
              <a:rPr lang="en-US" sz="2400" b="0" i="0" kern="0" dirty="0">
                <a:solidFill>
                  <a:schemeClr val="tx1"/>
                </a:solidFill>
              </a:rPr>
              <a:t>But, there is more to the story.</a:t>
            </a:r>
          </a:p>
        </p:txBody>
      </p:sp>
    </p:spTree>
    <p:extLst>
      <p:ext uri="{BB962C8B-B14F-4D97-AF65-F5344CB8AC3E}">
        <p14:creationId xmlns:p14="http://schemas.microsoft.com/office/powerpoint/2010/main" val="960076260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04B79-632A-BE59-77C2-06706DEEA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980ABE3-0DB7-33EA-8BB8-EA7A9C0A651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7C27B93-3028-512E-4361-2439A2E5EE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D0137FD-072E-254D-D5FF-3159CB944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Revenue Breakdown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72A15C-3A10-8794-01FA-BDF174CFF2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B68892-2354-4B4F-931D-9682A5A54ACA}" type="slidenum">
              <a:rPr lang="en-US" smtClean="0"/>
              <a:pPr>
                <a:defRPr/>
              </a:pPr>
              <a:t>3</a:t>
            </a:fld>
            <a:r>
              <a:rPr lang="en-US"/>
              <a:t> | Confidential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AFB63B-8638-42B1-19E3-DE3D42EB0A1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8299" y="1114174"/>
            <a:ext cx="8258175" cy="4244210"/>
          </a:xfrm>
        </p:spPr>
        <p:txBody>
          <a:bodyPr/>
          <a:lstStyle/>
          <a:p>
            <a:r>
              <a:rPr lang="en-US" sz="2400" i="0" dirty="0">
                <a:solidFill>
                  <a:schemeClr val="tx1"/>
                </a:solidFill>
              </a:rPr>
              <a:t>As Roblox continues to expand internationally, including into developing countries where consumer discretionary spending is relatively weak: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chemeClr val="tx1"/>
                </a:solidFill>
              </a:rPr>
              <a:t>DAUs increase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chemeClr val="tx1"/>
                </a:solidFill>
              </a:rPr>
              <a:t>The growth rate of bookings decelerates due to weaker spending by users from those regions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chemeClr val="tx1"/>
                </a:solidFill>
              </a:rPr>
              <a:t>ABPDAU has been and may continue to be negatively impacted.</a:t>
            </a:r>
          </a:p>
          <a:p>
            <a:r>
              <a:rPr lang="en-US" sz="2400" i="0" dirty="0">
                <a:solidFill>
                  <a:schemeClr val="tx1"/>
                </a:solidFill>
              </a:rPr>
              <a:t>This is most evident in APAC and the World (less UCAN, Europe, APAC)</a:t>
            </a:r>
          </a:p>
        </p:txBody>
      </p:sp>
    </p:spTree>
    <p:extLst>
      <p:ext uri="{BB962C8B-B14F-4D97-AF65-F5344CB8AC3E}">
        <p14:creationId xmlns:p14="http://schemas.microsoft.com/office/powerpoint/2010/main" val="2086690235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BA177-F5BE-0EAB-1797-CDCE19198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63B6CD35-7309-F6EF-F3EC-51FA473B9AE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7C27B93-3028-512E-4361-2439A2E5EE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C231690-6482-C082-3CF8-638BCFDEF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Revenue Breakdown – ABPDAU in APAC/Rest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BCA888-6B6F-8CCC-610C-8ED75DA32A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B68892-2354-4B4F-931D-9682A5A54ACA}" type="slidenum">
              <a:rPr lang="en-US" smtClean="0"/>
              <a:pPr>
                <a:defRPr/>
              </a:pPr>
              <a:t>4</a:t>
            </a:fld>
            <a:r>
              <a:rPr lang="en-US"/>
              <a:t> | Confidential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AA773E-8B6A-F9F3-9456-A1BE40BB6E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4811" y="692450"/>
            <a:ext cx="8258175" cy="2864559"/>
          </a:xfrm>
        </p:spPr>
        <p:txBody>
          <a:bodyPr/>
          <a:lstStyle/>
          <a:p>
            <a:r>
              <a:rPr lang="en-US" sz="2400" i="0" dirty="0">
                <a:solidFill>
                  <a:schemeClr val="tx1"/>
                </a:solidFill>
              </a:rPr>
              <a:t>Growth in DAU in APAC and the rest of the world is increasing exponentially, quarter over quarter.</a:t>
            </a:r>
          </a:p>
        </p:txBody>
      </p:sp>
      <p:pic>
        <p:nvPicPr>
          <p:cNvPr id="3" name="Picture 2" descr="A graph of numbers and lines&#10;&#10;AI-generated content may be incorrect.">
            <a:extLst>
              <a:ext uri="{FF2B5EF4-FFF2-40B4-BE49-F238E27FC236}">
                <a16:creationId xmlns:a16="http://schemas.microsoft.com/office/drawing/2014/main" id="{AA72FD83-337E-1EE3-8433-567225F042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11" y="3770152"/>
            <a:ext cx="3914305" cy="2214673"/>
          </a:xfrm>
          <a:prstGeom prst="rect">
            <a:avLst/>
          </a:prstGeom>
        </p:spPr>
      </p:pic>
      <p:pic>
        <p:nvPicPr>
          <p:cNvPr id="8" name="Picture 7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B84FA0DA-C95C-DA35-3E06-51C20D5E66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5632" y="3770152"/>
            <a:ext cx="3927354" cy="221467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Placeholder 4">
                <a:extLst>
                  <a:ext uri="{FF2B5EF4-FFF2-40B4-BE49-F238E27FC236}">
                    <a16:creationId xmlns:a16="http://schemas.microsoft.com/office/drawing/2014/main" id="{A3A910E8-240A-46B7-78E2-61AD2ED844C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8299" y="1529906"/>
                <a:ext cx="8258175" cy="1557942"/>
              </a:xfrm>
              <a:prstGeom prst="rect">
                <a:avLst/>
              </a:prstGeom>
            </p:spPr>
            <p:txBody>
              <a:bodyPr/>
              <a:lstStyle>
                <a:lvl1pPr marL="0" indent="0" algn="l" rtl="0" eaLnBrk="0" fontAlgn="base" hangingPunct="0"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None/>
                  <a:defRPr sz="2000" i="1" baseline="0">
                    <a:solidFill>
                      <a:schemeClr val="tx2"/>
                    </a:solidFill>
                    <a:latin typeface="+mj-lt"/>
                    <a:ea typeface="+mn-ea"/>
                    <a:cs typeface="+mn-cs"/>
                  </a:defRPr>
                </a:lvl1pPr>
                <a:lvl2pPr marL="463550" indent="-174625" algn="l" rtl="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Century Gothic" pitchFamily="34" charset="0"/>
                  <a:buChar char="–"/>
                  <a:defRPr>
                    <a:solidFill>
                      <a:srgbClr val="4C4C4C"/>
                    </a:solidFill>
                    <a:latin typeface="+mn-lt"/>
                  </a:defRPr>
                </a:lvl2pPr>
                <a:lvl3pPr marL="760413" indent="-182563" algn="l" rtl="0" eaLnBrk="0" fontAlgn="base" hangingPunct="0"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1600">
                    <a:solidFill>
                      <a:srgbClr val="4C4C4C"/>
                    </a:solidFill>
                    <a:latin typeface="+mn-lt"/>
                  </a:defRPr>
                </a:lvl3pPr>
                <a:lvl4pPr marL="1087438" indent="-21272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Century Gothic" pitchFamily="34" charset="0"/>
                  <a:buChar char="―"/>
                  <a:defRPr sz="1400">
                    <a:solidFill>
                      <a:srgbClr val="4C4C4C"/>
                    </a:solidFill>
                    <a:latin typeface="+mn-lt"/>
                  </a:defRPr>
                </a:lvl4pPr>
                <a:lvl5pPr marL="1376363" indent="-174625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Font typeface="Century Gothic" pitchFamily="34" charset="0"/>
                  <a:buChar char="•"/>
                  <a:defRPr sz="1200">
                    <a:solidFill>
                      <a:srgbClr val="4C4C4C"/>
                    </a:solidFill>
                    <a:latin typeface="+mn-lt"/>
                  </a:defRPr>
                </a:lvl5pPr>
                <a:lvl6pPr marL="1833563" indent="-174625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Font typeface="Century Gothic" pitchFamily="34" charset="0"/>
                  <a:buChar char="•"/>
                  <a:defRPr sz="1200">
                    <a:solidFill>
                      <a:srgbClr val="4C4C4C"/>
                    </a:solidFill>
                    <a:latin typeface="+mn-lt"/>
                  </a:defRPr>
                </a:lvl6pPr>
                <a:lvl7pPr marL="2290763" indent="-174625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Font typeface="Century Gothic" pitchFamily="34" charset="0"/>
                  <a:buChar char="•"/>
                  <a:defRPr sz="1200">
                    <a:solidFill>
                      <a:srgbClr val="4C4C4C"/>
                    </a:solidFill>
                    <a:latin typeface="+mn-lt"/>
                  </a:defRPr>
                </a:lvl7pPr>
                <a:lvl8pPr marL="2747963" indent="-174625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Font typeface="Century Gothic" pitchFamily="34" charset="0"/>
                  <a:buChar char="•"/>
                  <a:defRPr sz="1200">
                    <a:solidFill>
                      <a:srgbClr val="4C4C4C"/>
                    </a:solidFill>
                    <a:latin typeface="+mn-lt"/>
                  </a:defRPr>
                </a:lvl8pPr>
                <a:lvl9pPr marL="3205163" indent="-174625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Font typeface="Century Gothic" pitchFamily="34" charset="0"/>
                  <a:buChar char="•"/>
                  <a:defRPr sz="1200">
                    <a:solidFill>
                      <a:srgbClr val="4C4C4C"/>
                    </a:solidFill>
                    <a:latin typeface="+mn-lt"/>
                  </a:defRPr>
                </a:lvl9pPr>
              </a:lstStyle>
              <a:p>
                <a:r>
                  <a:rPr lang="en-US" sz="2400" b="0" i="0" kern="0" dirty="0">
                    <a:solidFill>
                      <a:schemeClr val="tx1"/>
                    </a:solidFill>
                  </a:rPr>
                  <a:t>Critically, growth in Average Bookings/DAU in APAC and the rest of the world is flatlining.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b="0" i="0" kern="0" dirty="0">
                    <a:solidFill>
                      <a:schemeClr val="tx1"/>
                    </a:solidFill>
                  </a:rPr>
                  <a:t>A low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b="0" i="0" kern="0" dirty="0">
                    <a:solidFill>
                      <a:schemeClr val="tx1"/>
                    </a:solidFill>
                  </a:rPr>
                  <a:t> value and near-zero slope indicates that no sustained deterioration or improvement in the profitability of each user is detectable (ABPDAU is stable around mean)</a:t>
                </a:r>
              </a:p>
            </p:txBody>
          </p:sp>
        </mc:Choice>
        <mc:Fallback>
          <p:sp>
            <p:nvSpPr>
              <p:cNvPr id="9" name="Text Placeholder 4">
                <a:extLst>
                  <a:ext uri="{FF2B5EF4-FFF2-40B4-BE49-F238E27FC236}">
                    <a16:creationId xmlns:a16="http://schemas.microsoft.com/office/drawing/2014/main" id="{A3A910E8-240A-46B7-78E2-61AD2ED844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299" y="1529906"/>
                <a:ext cx="8258175" cy="1557942"/>
              </a:xfrm>
              <a:prstGeom prst="rect">
                <a:avLst/>
              </a:prstGeom>
              <a:blipFill>
                <a:blip r:embed="rId8"/>
                <a:stretch>
                  <a:fillRect l="-1074" t="-3226" r="-613" b="-37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AutoShape 5" descr="R^2">
            <a:extLst>
              <a:ext uri="{FF2B5EF4-FFF2-40B4-BE49-F238E27FC236}">
                <a16:creationId xmlns:a16="http://schemas.microsoft.com/office/drawing/2014/main" id="{675E8AFD-4EFE-5EC1-9A29-641A64729E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09563" y="245401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9F300349-F7DA-42E7-BEBD-F89CBB303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id="{ED42904D-4F18-C30C-3390-C85F68DC52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187105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B74E2-1E51-35A9-2A91-AB8D6361D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05ACE113-EF2B-21FF-6323-AB8EC94BCFF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3B6CD35-7309-F6EF-F3EC-51FA473B9A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CAA5BC4-06AF-6D60-844B-82832B891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Revenue Breakdown – ABPDAU in Western Players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1D9843-4E79-CC38-8302-144CA7CB59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B68892-2354-4B4F-931D-9682A5A54ACA}" type="slidenum">
              <a:rPr lang="en-US" smtClean="0"/>
              <a:pPr>
                <a:defRPr/>
              </a:pPr>
              <a:t>5</a:t>
            </a:fld>
            <a:r>
              <a:rPr lang="en-US"/>
              <a:t> | Confidential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829F5D-2334-9969-CF3A-29A2F54D38E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4811" y="692451"/>
            <a:ext cx="8258175" cy="761446"/>
          </a:xfrm>
        </p:spPr>
        <p:txBody>
          <a:bodyPr/>
          <a:lstStyle/>
          <a:p>
            <a:r>
              <a:rPr lang="en-US" sz="2400" i="0" dirty="0">
                <a:solidFill>
                  <a:schemeClr val="tx1"/>
                </a:solidFill>
              </a:rPr>
              <a:t>Variability in DAU in USA/Canada is dominated by short-term noise rather than a trend.</a:t>
            </a:r>
          </a:p>
          <a:p>
            <a:endParaRPr lang="en-US" sz="2400" i="0" dirty="0">
              <a:solidFill>
                <a:schemeClr val="tx1"/>
              </a:solidFill>
            </a:endParaRPr>
          </a:p>
          <a:p>
            <a:endParaRPr lang="en-US" sz="2400" i="0" dirty="0">
              <a:solidFill>
                <a:schemeClr val="tx1"/>
              </a:solidFill>
            </a:endParaRPr>
          </a:p>
          <a:p>
            <a:endParaRPr lang="en-US" sz="2400" i="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DC5C5B-BB52-A5FB-0A02-47E6914A61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4811" y="3770152"/>
            <a:ext cx="3914305" cy="22146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C557B4-E038-DBDF-D3AA-44D45D312A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42156" y="3770152"/>
            <a:ext cx="3914305" cy="2214673"/>
          </a:xfrm>
          <a:prstGeom prst="rect">
            <a:avLst/>
          </a:prstGeom>
        </p:spPr>
      </p:pic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C33D506B-40B9-77F4-17F1-31AE00A07641}"/>
              </a:ext>
            </a:extLst>
          </p:cNvPr>
          <p:cNvSpPr txBox="1">
            <a:spLocks/>
          </p:cNvSpPr>
          <p:nvPr/>
        </p:nvSpPr>
        <p:spPr>
          <a:xfrm>
            <a:off x="368299" y="1529906"/>
            <a:ext cx="8258175" cy="55492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None/>
              <a:defRPr sz="2000" i="1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63550" indent="-174625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–"/>
              <a:defRPr>
                <a:solidFill>
                  <a:srgbClr val="4C4C4C"/>
                </a:solidFill>
                <a:latin typeface="+mn-lt"/>
              </a:defRPr>
            </a:lvl2pPr>
            <a:lvl3pPr marL="760413" indent="-182563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Char char="•"/>
              <a:defRPr sz="1600">
                <a:solidFill>
                  <a:srgbClr val="4C4C4C"/>
                </a:solidFill>
                <a:latin typeface="+mn-lt"/>
              </a:defRPr>
            </a:lvl3pPr>
            <a:lvl4pPr marL="1087438" indent="-212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Century Gothic" pitchFamily="34" charset="0"/>
              <a:buChar char="―"/>
              <a:defRPr sz="1400">
                <a:solidFill>
                  <a:srgbClr val="4C4C4C"/>
                </a:solidFill>
                <a:latin typeface="+mn-lt"/>
              </a:defRPr>
            </a:lvl4pPr>
            <a:lvl5pPr marL="1376363" indent="-17462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•"/>
              <a:defRPr sz="1200">
                <a:solidFill>
                  <a:srgbClr val="4C4C4C"/>
                </a:solidFill>
                <a:latin typeface="+mn-lt"/>
              </a:defRPr>
            </a:lvl5pPr>
            <a:lvl6pPr marL="1833563" indent="-17462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•"/>
              <a:defRPr sz="1200">
                <a:solidFill>
                  <a:srgbClr val="4C4C4C"/>
                </a:solidFill>
                <a:latin typeface="+mn-lt"/>
              </a:defRPr>
            </a:lvl6pPr>
            <a:lvl7pPr marL="2290763" indent="-17462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•"/>
              <a:defRPr sz="1200">
                <a:solidFill>
                  <a:srgbClr val="4C4C4C"/>
                </a:solidFill>
                <a:latin typeface="+mn-lt"/>
              </a:defRPr>
            </a:lvl7pPr>
            <a:lvl8pPr marL="2747963" indent="-17462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•"/>
              <a:defRPr sz="1200">
                <a:solidFill>
                  <a:srgbClr val="4C4C4C"/>
                </a:solidFill>
                <a:latin typeface="+mn-lt"/>
              </a:defRPr>
            </a:lvl8pPr>
            <a:lvl9pPr marL="3205163" indent="-17462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•"/>
              <a:defRPr sz="1200">
                <a:solidFill>
                  <a:srgbClr val="4C4C4C"/>
                </a:solidFill>
                <a:latin typeface="+mn-lt"/>
              </a:defRPr>
            </a:lvl9pPr>
          </a:lstStyle>
          <a:p>
            <a:r>
              <a:rPr lang="en-US" sz="2400" b="0" i="0" kern="0" dirty="0">
                <a:solidFill>
                  <a:schemeClr val="tx1"/>
                </a:solidFill>
              </a:rPr>
              <a:t>DAU is relatively stable in Europe, with a large uptick in 2025 Q3</a:t>
            </a:r>
          </a:p>
        </p:txBody>
      </p:sp>
      <p:sp>
        <p:nvSpPr>
          <p:cNvPr id="14" name="AutoShape 5" descr="R^2">
            <a:extLst>
              <a:ext uri="{FF2B5EF4-FFF2-40B4-BE49-F238E27FC236}">
                <a16:creationId xmlns:a16="http://schemas.microsoft.com/office/drawing/2014/main" id="{DE5F9320-D19C-A110-4DA4-A0C115C83AE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09563" y="245401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30180D40-76C7-81B5-034B-9DDB611543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id="{0CA4E373-7A5A-6D14-40EF-91DAB47C0E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CAE9D5B0-2368-2997-1C5F-A97D16A28679}"/>
              </a:ext>
            </a:extLst>
          </p:cNvPr>
          <p:cNvSpPr txBox="1">
            <a:spLocks/>
          </p:cNvSpPr>
          <p:nvPr/>
        </p:nvSpPr>
        <p:spPr>
          <a:xfrm>
            <a:off x="368298" y="2054912"/>
            <a:ext cx="8258175" cy="55492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None/>
              <a:defRPr sz="2000" i="1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63550" indent="-174625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–"/>
              <a:defRPr>
                <a:solidFill>
                  <a:srgbClr val="4C4C4C"/>
                </a:solidFill>
                <a:latin typeface="+mn-lt"/>
              </a:defRPr>
            </a:lvl2pPr>
            <a:lvl3pPr marL="760413" indent="-182563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Char char="•"/>
              <a:defRPr sz="1600">
                <a:solidFill>
                  <a:srgbClr val="4C4C4C"/>
                </a:solidFill>
                <a:latin typeface="+mn-lt"/>
              </a:defRPr>
            </a:lvl3pPr>
            <a:lvl4pPr marL="1087438" indent="-212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Century Gothic" pitchFamily="34" charset="0"/>
              <a:buChar char="―"/>
              <a:defRPr sz="1400">
                <a:solidFill>
                  <a:srgbClr val="4C4C4C"/>
                </a:solidFill>
                <a:latin typeface="+mn-lt"/>
              </a:defRPr>
            </a:lvl4pPr>
            <a:lvl5pPr marL="1376363" indent="-17462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•"/>
              <a:defRPr sz="1200">
                <a:solidFill>
                  <a:srgbClr val="4C4C4C"/>
                </a:solidFill>
                <a:latin typeface="+mn-lt"/>
              </a:defRPr>
            </a:lvl5pPr>
            <a:lvl6pPr marL="1833563" indent="-17462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•"/>
              <a:defRPr sz="1200">
                <a:solidFill>
                  <a:srgbClr val="4C4C4C"/>
                </a:solidFill>
                <a:latin typeface="+mn-lt"/>
              </a:defRPr>
            </a:lvl6pPr>
            <a:lvl7pPr marL="2290763" indent="-17462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•"/>
              <a:defRPr sz="1200">
                <a:solidFill>
                  <a:srgbClr val="4C4C4C"/>
                </a:solidFill>
                <a:latin typeface="+mn-lt"/>
              </a:defRPr>
            </a:lvl7pPr>
            <a:lvl8pPr marL="2747963" indent="-17462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•"/>
              <a:defRPr sz="1200">
                <a:solidFill>
                  <a:srgbClr val="4C4C4C"/>
                </a:solidFill>
                <a:latin typeface="+mn-lt"/>
              </a:defRPr>
            </a:lvl8pPr>
            <a:lvl9pPr marL="3205163" indent="-17462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•"/>
              <a:defRPr sz="1200">
                <a:solidFill>
                  <a:srgbClr val="4C4C4C"/>
                </a:solidFill>
                <a:latin typeface="+mn-lt"/>
              </a:defRPr>
            </a:lvl9pPr>
          </a:lstStyle>
          <a:p>
            <a:r>
              <a:rPr lang="en-US" sz="2400" b="0" i="0" kern="0" dirty="0">
                <a:solidFill>
                  <a:schemeClr val="tx1"/>
                </a:solidFill>
              </a:rPr>
              <a:t>Implications for Western profitability = </a:t>
            </a:r>
            <a:r>
              <a:rPr lang="en-US" sz="2400" b="0" i="0" kern="0" dirty="0">
                <a:solidFill>
                  <a:schemeClr val="tx1"/>
                </a:solidFill>
                <a:highlight>
                  <a:srgbClr val="008000"/>
                </a:highlight>
              </a:rPr>
              <a:t>sustained growth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i="0" kern="0" dirty="0">
                <a:solidFill>
                  <a:schemeClr val="tx1"/>
                </a:solidFill>
              </a:rPr>
              <a:t>Average Bookings per DAU in both UCAN and Europe is increasing with a Strong to Moderate linear fit</a:t>
            </a:r>
          </a:p>
        </p:txBody>
      </p:sp>
    </p:spTree>
    <p:extLst>
      <p:ext uri="{BB962C8B-B14F-4D97-AF65-F5344CB8AC3E}">
        <p14:creationId xmlns:p14="http://schemas.microsoft.com/office/powerpoint/2010/main" val="3080720604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EEE3B-71D7-1E1B-A8CE-3BA9142A5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E7AC0A55-EBC5-C44B-F827-373F1521655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5ACE113-EF2B-21FF-6323-AB8EC94BCF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AB5442F-007D-E24E-CA86-DA9FB26F0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Revenue Breakdown – Long Term Trends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E8A232-5DCC-900A-56AE-7E6DEC895D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B68892-2354-4B4F-931D-9682A5A54ACA}" type="slidenum">
              <a:rPr lang="en-US" smtClean="0"/>
              <a:pPr>
                <a:defRPr/>
              </a:pPr>
              <a:t>6</a:t>
            </a:fld>
            <a:r>
              <a:rPr lang="en-US"/>
              <a:t> | Confidential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89B7D6-6BEE-0DAC-6C96-7E0923F671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4811" y="692451"/>
            <a:ext cx="5315052" cy="761446"/>
          </a:xfrm>
        </p:spPr>
        <p:txBody>
          <a:bodyPr/>
          <a:lstStyle/>
          <a:p>
            <a:r>
              <a:rPr lang="en-US" sz="2400" i="0" dirty="0">
                <a:solidFill>
                  <a:schemeClr val="tx1"/>
                </a:solidFill>
              </a:rPr>
              <a:t>The markets driving revenue are UCAN and Europe (79.5% of revenue)</a:t>
            </a:r>
          </a:p>
          <a:p>
            <a:endParaRPr lang="en-US" sz="2400" i="0" dirty="0">
              <a:solidFill>
                <a:schemeClr val="tx1"/>
              </a:solidFill>
            </a:endParaRP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A6189EA7-50CE-E4EA-E275-BB1A4A1F3DE9}"/>
              </a:ext>
            </a:extLst>
          </p:cNvPr>
          <p:cNvSpPr txBox="1">
            <a:spLocks/>
          </p:cNvSpPr>
          <p:nvPr/>
        </p:nvSpPr>
        <p:spPr>
          <a:xfrm>
            <a:off x="404811" y="1673162"/>
            <a:ext cx="5191253" cy="55492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None/>
              <a:defRPr sz="2000" i="1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63550" indent="-174625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–"/>
              <a:defRPr>
                <a:solidFill>
                  <a:srgbClr val="4C4C4C"/>
                </a:solidFill>
                <a:latin typeface="+mn-lt"/>
              </a:defRPr>
            </a:lvl2pPr>
            <a:lvl3pPr marL="760413" indent="-182563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Char char="•"/>
              <a:defRPr sz="1600">
                <a:solidFill>
                  <a:srgbClr val="4C4C4C"/>
                </a:solidFill>
                <a:latin typeface="+mn-lt"/>
              </a:defRPr>
            </a:lvl3pPr>
            <a:lvl4pPr marL="1087438" indent="-212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Century Gothic" pitchFamily="34" charset="0"/>
              <a:buChar char="―"/>
              <a:defRPr sz="1400">
                <a:solidFill>
                  <a:srgbClr val="4C4C4C"/>
                </a:solidFill>
                <a:latin typeface="+mn-lt"/>
              </a:defRPr>
            </a:lvl4pPr>
            <a:lvl5pPr marL="1376363" indent="-17462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•"/>
              <a:defRPr sz="1200">
                <a:solidFill>
                  <a:srgbClr val="4C4C4C"/>
                </a:solidFill>
                <a:latin typeface="+mn-lt"/>
              </a:defRPr>
            </a:lvl5pPr>
            <a:lvl6pPr marL="1833563" indent="-17462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•"/>
              <a:defRPr sz="1200">
                <a:solidFill>
                  <a:srgbClr val="4C4C4C"/>
                </a:solidFill>
                <a:latin typeface="+mn-lt"/>
              </a:defRPr>
            </a:lvl6pPr>
            <a:lvl7pPr marL="2290763" indent="-17462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•"/>
              <a:defRPr sz="1200">
                <a:solidFill>
                  <a:srgbClr val="4C4C4C"/>
                </a:solidFill>
                <a:latin typeface="+mn-lt"/>
              </a:defRPr>
            </a:lvl7pPr>
            <a:lvl8pPr marL="2747963" indent="-17462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•"/>
              <a:defRPr sz="1200">
                <a:solidFill>
                  <a:srgbClr val="4C4C4C"/>
                </a:solidFill>
                <a:latin typeface="+mn-lt"/>
              </a:defRPr>
            </a:lvl8pPr>
            <a:lvl9pPr marL="3205163" indent="-17462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•"/>
              <a:defRPr sz="1200">
                <a:solidFill>
                  <a:srgbClr val="4C4C4C"/>
                </a:solidFill>
                <a:latin typeface="+mn-lt"/>
              </a:defRPr>
            </a:lvl9pPr>
          </a:lstStyle>
          <a:p>
            <a:r>
              <a:rPr lang="en-US" sz="2400" b="0" i="0" kern="0" dirty="0">
                <a:solidFill>
                  <a:schemeClr val="tx1"/>
                </a:solidFill>
              </a:rPr>
              <a:t>We’ve established the increasing profitability of users in this market.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i="0" kern="0" dirty="0">
                <a:solidFill>
                  <a:schemeClr val="tx1"/>
                </a:solidFill>
              </a:rPr>
              <a:t>Increased margin per active user in the highest spending regions creates a compelling case for durable earnings growth</a:t>
            </a: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BE8A6A5F-408C-F129-B6AB-C77F85423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id="{E55B1257-E810-16A9-A69C-47B67D14B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2208B3DD-A08F-CD90-1AA3-817C30A438C4}"/>
              </a:ext>
            </a:extLst>
          </p:cNvPr>
          <p:cNvSpPr txBox="1">
            <a:spLocks/>
          </p:cNvSpPr>
          <p:nvPr/>
        </p:nvSpPr>
        <p:spPr>
          <a:xfrm>
            <a:off x="327025" y="4178291"/>
            <a:ext cx="8258175" cy="55492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None/>
              <a:defRPr sz="2000" i="1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63550" indent="-174625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–"/>
              <a:defRPr>
                <a:solidFill>
                  <a:srgbClr val="4C4C4C"/>
                </a:solidFill>
                <a:latin typeface="+mn-lt"/>
              </a:defRPr>
            </a:lvl2pPr>
            <a:lvl3pPr marL="760413" indent="-182563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Char char="•"/>
              <a:defRPr sz="1600">
                <a:solidFill>
                  <a:srgbClr val="4C4C4C"/>
                </a:solidFill>
                <a:latin typeface="+mn-lt"/>
              </a:defRPr>
            </a:lvl3pPr>
            <a:lvl4pPr marL="1087438" indent="-212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Century Gothic" pitchFamily="34" charset="0"/>
              <a:buChar char="―"/>
              <a:defRPr sz="1400">
                <a:solidFill>
                  <a:srgbClr val="4C4C4C"/>
                </a:solidFill>
                <a:latin typeface="+mn-lt"/>
              </a:defRPr>
            </a:lvl4pPr>
            <a:lvl5pPr marL="1376363" indent="-17462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•"/>
              <a:defRPr sz="1200">
                <a:solidFill>
                  <a:srgbClr val="4C4C4C"/>
                </a:solidFill>
                <a:latin typeface="+mn-lt"/>
              </a:defRPr>
            </a:lvl5pPr>
            <a:lvl6pPr marL="1833563" indent="-17462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•"/>
              <a:defRPr sz="1200">
                <a:solidFill>
                  <a:srgbClr val="4C4C4C"/>
                </a:solidFill>
                <a:latin typeface="+mn-lt"/>
              </a:defRPr>
            </a:lvl6pPr>
            <a:lvl7pPr marL="2290763" indent="-17462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•"/>
              <a:defRPr sz="1200">
                <a:solidFill>
                  <a:srgbClr val="4C4C4C"/>
                </a:solidFill>
                <a:latin typeface="+mn-lt"/>
              </a:defRPr>
            </a:lvl7pPr>
            <a:lvl8pPr marL="2747963" indent="-17462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•"/>
              <a:defRPr sz="1200">
                <a:solidFill>
                  <a:srgbClr val="4C4C4C"/>
                </a:solidFill>
                <a:latin typeface="+mn-lt"/>
              </a:defRPr>
            </a:lvl8pPr>
            <a:lvl9pPr marL="3205163" indent="-17462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•"/>
              <a:defRPr sz="1200">
                <a:solidFill>
                  <a:srgbClr val="4C4C4C"/>
                </a:solidFill>
                <a:latin typeface="+mn-lt"/>
              </a:defRPr>
            </a:lvl9pPr>
          </a:lstStyle>
          <a:p>
            <a:r>
              <a:rPr lang="en-US" sz="2400" b="0" i="0" kern="0" dirty="0">
                <a:solidFill>
                  <a:schemeClr val="tx1"/>
                </a:solidFill>
              </a:rPr>
              <a:t>Expansion into regions with less consumer spending has not drastically decreased the regions’ profitability/user.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i="0" kern="0" dirty="0">
                <a:solidFill>
                  <a:schemeClr val="tx1"/>
                </a:solidFill>
              </a:rPr>
              <a:t>Rate of DAU growth outpaces the decline in profitability/user.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i="0" kern="0" dirty="0">
                <a:solidFill>
                  <a:schemeClr val="tx1"/>
                </a:solidFill>
              </a:rPr>
              <a:t>Roblox is prioritizing near-term scale (DAU growth and engagement) over short-term monetization efficiency</a:t>
            </a:r>
          </a:p>
        </p:txBody>
      </p:sp>
      <p:pic>
        <p:nvPicPr>
          <p:cNvPr id="18" name="Picture 17" descr="A blue pie chart with numbers and a few words&#10;&#10;AI-generated content may be incorrect.">
            <a:extLst>
              <a:ext uri="{FF2B5EF4-FFF2-40B4-BE49-F238E27FC236}">
                <a16:creationId xmlns:a16="http://schemas.microsoft.com/office/drawing/2014/main" id="{9F272D28-C4A3-EE6D-CF90-9B4504CB44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6064" y="904526"/>
            <a:ext cx="3435223" cy="2808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5127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3B638-B395-EFC1-3F88-5F26F1AFB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D05322E-8C48-08BF-6EB3-285A172017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7AC0A55-EBC5-C44B-F827-373F152165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652508D-3CB2-10BC-F46E-BF81F3E1B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Revenue Breakdown – Consumption Headwinds (1/3)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502C0A-DAF5-845E-8D7B-6D7AA17828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B68892-2354-4B4F-931D-9682A5A54ACA}" type="slidenum">
              <a:rPr lang="en-US" smtClean="0"/>
              <a:pPr>
                <a:defRPr/>
              </a:pPr>
              <a:t>7</a:t>
            </a:fld>
            <a:r>
              <a:rPr lang="en-US"/>
              <a:t> | Confidential</a:t>
            </a: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207F5DAD-4855-E799-9470-35E05B663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id="{282233C1-F3B5-8B89-17A5-24344A5D54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6212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02C8F06-7F6E-030E-0D13-7B32F4A8AE0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4811" y="647829"/>
            <a:ext cx="8258175" cy="1418705"/>
          </a:xfrm>
        </p:spPr>
        <p:txBody>
          <a:bodyPr/>
          <a:lstStyle/>
          <a:p>
            <a:r>
              <a:rPr lang="en-US" i="0" dirty="0">
                <a:solidFill>
                  <a:schemeClr val="tx1"/>
                </a:solidFill>
              </a:rPr>
              <a:t>Bookings measure real-time sales (mostly </a:t>
            </a:r>
            <a:r>
              <a:rPr lang="en-US" i="0" dirty="0" err="1">
                <a:solidFill>
                  <a:schemeClr val="tx1"/>
                </a:solidFill>
              </a:rPr>
              <a:t>Robux</a:t>
            </a:r>
            <a:r>
              <a:rPr lang="en-US" i="0" dirty="0">
                <a:solidFill>
                  <a:schemeClr val="tx1"/>
                </a:solidFill>
              </a:rPr>
              <a:t>) recorded upfront as deferred revenue and later recognized as GAAP revenue when they’re spent.</a:t>
            </a:r>
          </a:p>
          <a:p>
            <a:r>
              <a:rPr lang="en-US" i="0" dirty="0">
                <a:solidFill>
                  <a:schemeClr val="tx1"/>
                </a:solidFill>
              </a:rPr>
              <a:t>Observe the following comparisons of % change from bookings to revenue. Pay attention to the rough periods colored in </a:t>
            </a:r>
            <a:r>
              <a:rPr lang="en-US" i="0" dirty="0">
                <a:solidFill>
                  <a:schemeClr val="tx1"/>
                </a:solidFill>
                <a:highlight>
                  <a:srgbClr val="00FF00"/>
                </a:highlight>
              </a:rPr>
              <a:t>GREEN</a:t>
            </a:r>
            <a:r>
              <a:rPr lang="en-US" i="0" dirty="0">
                <a:solidFill>
                  <a:schemeClr val="tx1"/>
                </a:solidFill>
              </a:rPr>
              <a:t> vs </a:t>
            </a:r>
            <a:r>
              <a:rPr lang="en-US" i="0" dirty="0">
                <a:solidFill>
                  <a:schemeClr val="tx1"/>
                </a:solidFill>
                <a:highlight>
                  <a:srgbClr val="FE7A43"/>
                </a:highlight>
              </a:rPr>
              <a:t>ORANGE</a:t>
            </a:r>
            <a:r>
              <a:rPr lang="en-US" i="0" dirty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22" name="Picture 21" descr="A graph of a bar chart&#10;&#10;AI-generated content may be incorrect.">
            <a:extLst>
              <a:ext uri="{FF2B5EF4-FFF2-40B4-BE49-F238E27FC236}">
                <a16:creationId xmlns:a16="http://schemas.microsoft.com/office/drawing/2014/main" id="{CE99BE25-1E15-5BE7-88A5-E8B56885E5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6850" y="4373180"/>
            <a:ext cx="3316325" cy="2005923"/>
          </a:xfrm>
          <a:prstGeom prst="rect">
            <a:avLst/>
          </a:prstGeom>
        </p:spPr>
      </p:pic>
      <p:pic>
        <p:nvPicPr>
          <p:cNvPr id="24" name="Picture 23" descr="A graph with blue and green lines and orange dots&#10;&#10;AI-generated content may be incorrect.">
            <a:extLst>
              <a:ext uri="{FF2B5EF4-FFF2-40B4-BE49-F238E27FC236}">
                <a16:creationId xmlns:a16="http://schemas.microsoft.com/office/drawing/2014/main" id="{98A399E4-729E-5349-1BB4-5282613BDA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18" y="4383259"/>
            <a:ext cx="3316326" cy="1995844"/>
          </a:xfrm>
          <a:prstGeom prst="rect">
            <a:avLst/>
          </a:prstGeom>
        </p:spPr>
      </p:pic>
      <p:pic>
        <p:nvPicPr>
          <p:cNvPr id="26" name="Picture 25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B41A4093-BF3E-805E-2658-22A7F5E6E0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6851" y="2276025"/>
            <a:ext cx="3326405" cy="2005923"/>
          </a:xfrm>
          <a:prstGeom prst="rect">
            <a:avLst/>
          </a:prstGeom>
        </p:spPr>
      </p:pic>
      <p:pic>
        <p:nvPicPr>
          <p:cNvPr id="28" name="Picture 27" descr="A graph with blue and green lines&#10;&#10;AI-generated content may be incorrect.">
            <a:extLst>
              <a:ext uri="{FF2B5EF4-FFF2-40B4-BE49-F238E27FC236}">
                <a16:creationId xmlns:a16="http://schemas.microsoft.com/office/drawing/2014/main" id="{078D6CA6-97A2-1F19-F6E6-F6D587B398D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757" y="2276856"/>
            <a:ext cx="3316326" cy="1995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565837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8A4D6-54CD-80C9-1783-ECD3FA4C2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4B3C41D7-0F83-88B3-28D0-4B841764D2E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05322E-8C48-08BF-6EB3-285A172017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0C90DB5-F319-2DFF-9D4E-EF6DF3CE6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Revenue Breakdown – Consumption Headwinds (2/3)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76028-10B9-7CEE-9C9E-F3082FA0E5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B68892-2354-4B4F-931D-9682A5A54ACA}" type="slidenum">
              <a:rPr lang="en-US" smtClean="0"/>
              <a:pPr>
                <a:defRPr/>
              </a:pPr>
              <a:t>8</a:t>
            </a:fld>
            <a:r>
              <a:rPr lang="en-US"/>
              <a:t> | Confidential</a:t>
            </a: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5CE76091-9A22-DE8F-45D3-450AF0811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id="{C0276802-25C8-08A0-002F-E920C65F7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71495BA-922E-627B-63E5-9AAEA23B495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4811" y="647829"/>
            <a:ext cx="8258175" cy="1418705"/>
          </a:xfrm>
        </p:spPr>
        <p:txBody>
          <a:bodyPr/>
          <a:lstStyle/>
          <a:p>
            <a:r>
              <a:rPr lang="en-US" i="0" dirty="0">
                <a:solidFill>
                  <a:schemeClr val="tx1"/>
                </a:solidFill>
              </a:rPr>
              <a:t>In regions with noticeable spikes in consumer spending during the Winter Holidays, the difference in Bookings/Revenue is large, but this is expected.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chemeClr val="tx1"/>
                </a:solidFill>
              </a:rPr>
              <a:t>e.g. Timmy’s grandmother buys him a 2,500      gift card for Christmas, which he will spend over the course of the year.</a:t>
            </a:r>
          </a:p>
          <a:p>
            <a:r>
              <a:rPr lang="en-US" b="1" i="0" dirty="0">
                <a:solidFill>
                  <a:schemeClr val="tx1"/>
                </a:solidFill>
                <a:highlight>
                  <a:srgbClr val="FFFF00"/>
                </a:highlight>
              </a:rPr>
              <a:t>REVERSAL</a:t>
            </a:r>
            <a:r>
              <a:rPr lang="en-US" i="0" dirty="0">
                <a:solidFill>
                  <a:schemeClr val="tx1"/>
                </a:solidFill>
              </a:rPr>
              <a:t>: Historically, that effect rapidly unwound in Q1–Q2, but in 2025 we do not see this recovery.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chemeClr val="tx1"/>
                </a:solidFill>
              </a:rPr>
              <a:t>Deferred balances remain elevated into mid-year, indicating softer consumption of </a:t>
            </a:r>
            <a:r>
              <a:rPr lang="en-US" i="0" dirty="0" err="1">
                <a:solidFill>
                  <a:schemeClr val="tx1"/>
                </a:solidFill>
              </a:rPr>
              <a:t>Robux</a:t>
            </a:r>
            <a:r>
              <a:rPr lang="en-US" i="0" dirty="0">
                <a:solidFill>
                  <a:schemeClr val="tx1"/>
                </a:solidFill>
              </a:rPr>
              <a:t> post-holiday.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chemeClr val="tx1"/>
                </a:solidFill>
              </a:rPr>
              <a:t>This could be evidence of a structural shift in how players convert </a:t>
            </a:r>
            <a:r>
              <a:rPr lang="en-US" i="0" dirty="0" err="1">
                <a:solidFill>
                  <a:schemeClr val="tx1"/>
                </a:solidFill>
              </a:rPr>
              <a:t>Robux</a:t>
            </a:r>
            <a:r>
              <a:rPr lang="en-US" i="0" dirty="0">
                <a:solidFill>
                  <a:schemeClr val="tx1"/>
                </a:solidFill>
              </a:rPr>
              <a:t> balances into spend.</a:t>
            </a:r>
          </a:p>
          <a:p>
            <a:r>
              <a:rPr lang="en-US" i="0" dirty="0">
                <a:solidFill>
                  <a:schemeClr val="tx1"/>
                </a:solidFill>
              </a:rPr>
              <a:t>If players aren’t spending </a:t>
            </a:r>
            <a:r>
              <a:rPr lang="en-US" i="0" dirty="0" err="1">
                <a:solidFill>
                  <a:schemeClr val="tx1"/>
                </a:solidFill>
              </a:rPr>
              <a:t>Robux</a:t>
            </a:r>
            <a:r>
              <a:rPr lang="en-US" i="0" dirty="0">
                <a:solidFill>
                  <a:schemeClr val="tx1"/>
                </a:solidFill>
              </a:rPr>
              <a:t>, activity may be plateauing in key cohorts.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chemeClr val="tx1"/>
                </a:solidFill>
              </a:rPr>
              <a:t>Could indicates weaker content pull or consumption incentives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chemeClr val="tx1"/>
                </a:solidFill>
              </a:rPr>
              <a:t>Weakened Macro-consumer environment</a:t>
            </a:r>
          </a:p>
          <a:p>
            <a:r>
              <a:rPr lang="en-US" i="0" dirty="0">
                <a:solidFill>
                  <a:schemeClr val="tx1"/>
                </a:solidFill>
              </a:rPr>
              <a:t>If not addressed, this could constrain revenue growth despite healthy bookings. Increasing consumption velocity is a key focus area going forward.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i="0" dirty="0">
              <a:solidFill>
                <a:schemeClr val="tx1"/>
              </a:solidFill>
            </a:endParaRPr>
          </a:p>
        </p:txBody>
      </p:sp>
      <p:pic>
        <p:nvPicPr>
          <p:cNvPr id="5" name="Picture 4" descr="A gold hexagon with a square in center&#10;&#10;AI-generated content may be incorrect.">
            <a:extLst>
              <a:ext uri="{FF2B5EF4-FFF2-40B4-BE49-F238E27FC236}">
                <a16:creationId xmlns:a16="http://schemas.microsoft.com/office/drawing/2014/main" id="{5A024B0C-8558-2566-5AC8-8C2079D1EE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4104" y="1428364"/>
            <a:ext cx="237340" cy="25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87852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441C9-6F08-46FC-2F7B-E2182B7EF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32BD739E-6874-3C4B-4082-76A6446420B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3C41D7-0F83-88B3-28D0-4B841764D2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062351A-2F54-0327-EFA3-2D88B67F9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Revenue Breakdown – Consumption Headwinds (3/3)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63F23B-30A5-881B-FA1A-0F3F8CDF15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B68892-2354-4B4F-931D-9682A5A54ACA}" type="slidenum">
              <a:rPr lang="en-US" smtClean="0"/>
              <a:pPr>
                <a:defRPr/>
              </a:pPr>
              <a:t>9</a:t>
            </a:fld>
            <a:r>
              <a:rPr lang="en-US"/>
              <a:t> | Confidential</a:t>
            </a: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FBB9A750-3FDF-CE2B-2C0F-0E0A1AE077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id="{789DB49B-EF1C-A1B8-FF10-1D5A4281CE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356617C-F20D-80DD-C0B0-BDDBACEB1B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4811" y="647829"/>
            <a:ext cx="8258175" cy="1418705"/>
          </a:xfrm>
        </p:spPr>
        <p:txBody>
          <a:bodyPr/>
          <a:lstStyle/>
          <a:p>
            <a:r>
              <a:rPr lang="en-US" i="0" dirty="0">
                <a:solidFill>
                  <a:schemeClr val="tx1"/>
                </a:solidFill>
              </a:rPr>
              <a:t>Recall: The amount of unspent </a:t>
            </a:r>
            <a:r>
              <a:rPr lang="en-US" i="0" dirty="0" err="1">
                <a:solidFill>
                  <a:schemeClr val="tx1"/>
                </a:solidFill>
              </a:rPr>
              <a:t>Robux</a:t>
            </a:r>
            <a:r>
              <a:rPr lang="en-US" i="0" dirty="0">
                <a:solidFill>
                  <a:schemeClr val="tx1"/>
                </a:solidFill>
              </a:rPr>
              <a:t> in 2025 is increasing.</a:t>
            </a:r>
          </a:p>
          <a:p>
            <a:r>
              <a:rPr lang="en-US" i="0" dirty="0">
                <a:solidFill>
                  <a:schemeClr val="tx1"/>
                </a:solidFill>
              </a:rPr>
              <a:t>Conjecture: Kids are greedy, but their greed is not insatiable.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If Timmy comes into 2025 Q4 with 2,000 </a:t>
            </a:r>
            <a:r>
              <a:rPr lang="en-US" dirty="0" err="1">
                <a:solidFill>
                  <a:schemeClr val="tx1"/>
                </a:solidFill>
              </a:rPr>
              <a:t>Robux</a:t>
            </a:r>
            <a:r>
              <a:rPr lang="en-US" dirty="0">
                <a:solidFill>
                  <a:schemeClr val="tx1"/>
                </a:solidFill>
              </a:rPr>
              <a:t> in his wallet, he may not ask his parents for </a:t>
            </a:r>
            <a:r>
              <a:rPr lang="en-US" dirty="0" err="1">
                <a:solidFill>
                  <a:schemeClr val="tx1"/>
                </a:solidFill>
              </a:rPr>
              <a:t>Robux</a:t>
            </a:r>
            <a:r>
              <a:rPr lang="en-US" dirty="0">
                <a:solidFill>
                  <a:schemeClr val="tx1"/>
                </a:solidFill>
              </a:rPr>
              <a:t> this holiday season</a:t>
            </a:r>
          </a:p>
          <a:p>
            <a:r>
              <a:rPr lang="en-US" i="0" dirty="0">
                <a:solidFill>
                  <a:schemeClr val="tx1"/>
                </a:solidFill>
              </a:rPr>
              <a:t>Hence, Roblox may see a decrease in bookings this Holiday season and would report a decrease in bookings on their 10-K. This will shake investor confidence and may cause the stock price to fall.</a:t>
            </a:r>
          </a:p>
        </p:txBody>
      </p:sp>
      <p:pic>
        <p:nvPicPr>
          <p:cNvPr id="6" name="Picture 5" descr="Sad gray cat">
            <a:extLst>
              <a:ext uri="{FF2B5EF4-FFF2-40B4-BE49-F238E27FC236}">
                <a16:creationId xmlns:a16="http://schemas.microsoft.com/office/drawing/2014/main" id="{EC40DB51-D6E2-281F-4B58-EFD7A4273D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7564" y="3581400"/>
            <a:ext cx="4233672" cy="282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427158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8A286-F5A3-798E-2113-9363C5C58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D94B4A79-3B13-ABCD-6FEA-90840E0F35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2BD739E-6874-3C4B-4082-76A6446420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C4261D1-C53C-2697-63A8-705F82A6E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875" y="28875"/>
            <a:ext cx="8340725" cy="663575"/>
          </a:xfrm>
        </p:spPr>
        <p:txBody>
          <a:bodyPr vert="horz"/>
          <a:lstStyle/>
          <a:p>
            <a:r>
              <a:rPr lang="en-GB" dirty="0">
                <a:solidFill>
                  <a:srgbClr val="000000"/>
                </a:solidFill>
                <a:latin typeface="Arial"/>
                <a:ea typeface="Calibri"/>
                <a:cs typeface="Arial"/>
              </a:rPr>
              <a:t>Aging User Base Drives Monetization Upside</a:t>
            </a:r>
            <a:r>
              <a:rPr lang="en-GB" sz="1200" b="0" dirty="0">
                <a:solidFill>
                  <a:srgbClr val="000000"/>
                </a:solidFill>
                <a:latin typeface="Arial"/>
                <a:ea typeface="Calibri"/>
                <a:cs typeface="Arial"/>
              </a:rPr>
              <a:t>: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6AD0A-2C26-C3E5-200B-340D79AC47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B68892-2354-4B4F-931D-9682A5A54ACA}" type="slidenum">
              <a:rPr lang="en-US" smtClean="0"/>
              <a:pPr>
                <a:defRPr/>
              </a:pPr>
              <a:t>10</a:t>
            </a:fld>
            <a:r>
              <a:rPr lang="en-US"/>
              <a:t> | Confidential</a:t>
            </a: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C562A1FA-03DC-68D6-9489-2C206F256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id="{274407B1-C6FB-7F36-FAB2-593C485CE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0AE67C5-F081-9D8D-E1F8-7E19D2DFDE4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4811" y="647829"/>
            <a:ext cx="8258175" cy="1098671"/>
          </a:xfrm>
        </p:spPr>
        <p:txBody>
          <a:bodyPr/>
          <a:lstStyle/>
          <a:p>
            <a:r>
              <a:rPr lang="en-US" i="0" dirty="0">
                <a:solidFill>
                  <a:schemeClr val="tx1"/>
                </a:solidFill>
              </a:rPr>
              <a:t>Increased consumer spending from an </a:t>
            </a:r>
            <a:r>
              <a:rPr lang="en-US" b="1" i="0" dirty="0">
                <a:solidFill>
                  <a:schemeClr val="tx1"/>
                </a:solidFill>
              </a:rPr>
              <a:t>increasingly older user base</a:t>
            </a:r>
            <a:r>
              <a:rPr lang="en-US" i="0" dirty="0">
                <a:solidFill>
                  <a:schemeClr val="tx1"/>
                </a:solidFill>
              </a:rPr>
              <a:t>. </a:t>
            </a:r>
          </a:p>
          <a:p>
            <a:r>
              <a:rPr lang="en-US" i="0" dirty="0">
                <a:solidFill>
                  <a:schemeClr val="tx1"/>
                </a:solidFill>
              </a:rPr>
              <a:t>“We estimate that approximately 40% of our DAUs were under the age of 13 during the year ended December 31, 2024” (Roblox 10-Q, Q3 2025)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5D43AFB-D961-4216-783B-1AFE7FC2DAA7}"/>
              </a:ext>
            </a:extLst>
          </p:cNvPr>
          <p:cNvSpPr/>
          <p:nvPr/>
        </p:nvSpPr>
        <p:spPr bwMode="auto">
          <a:xfrm>
            <a:off x="114255" y="126899"/>
            <a:ext cx="463639" cy="467526"/>
          </a:xfrm>
          <a:prstGeom prst="ellipse">
            <a:avLst/>
          </a:prstGeom>
          <a:solidFill>
            <a:srgbClr val="D7200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R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Tx/>
              <a:tabLst/>
            </a:pPr>
            <a:r>
              <a:rPr kumimoji="0" lang="en-US" sz="18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353A9E04-2CAF-3D5F-3C89-0AB770C479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6876979"/>
              </p:ext>
            </p:extLst>
          </p:nvPr>
        </p:nvGraphicFramePr>
        <p:xfrm>
          <a:off x="404811" y="1974456"/>
          <a:ext cx="4491080" cy="37627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FE8F6CE-F7F8-2DD3-F0C6-47C7740D5DAD}"/>
              </a:ext>
            </a:extLst>
          </p:cNvPr>
          <p:cNvSpPr txBox="1">
            <a:spLocks/>
          </p:cNvSpPr>
          <p:nvPr/>
        </p:nvSpPr>
        <p:spPr>
          <a:xfrm>
            <a:off x="4895891" y="1974456"/>
            <a:ext cx="3843299" cy="190740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None/>
              <a:defRPr sz="2000" i="1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63550" indent="-174625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–"/>
              <a:defRPr>
                <a:solidFill>
                  <a:srgbClr val="4C4C4C"/>
                </a:solidFill>
                <a:latin typeface="+mn-lt"/>
              </a:defRPr>
            </a:lvl2pPr>
            <a:lvl3pPr marL="760413" indent="-182563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Char char="•"/>
              <a:defRPr sz="1600">
                <a:solidFill>
                  <a:srgbClr val="4C4C4C"/>
                </a:solidFill>
                <a:latin typeface="+mn-lt"/>
              </a:defRPr>
            </a:lvl3pPr>
            <a:lvl4pPr marL="1087438" indent="-212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Century Gothic" pitchFamily="34" charset="0"/>
              <a:buChar char="―"/>
              <a:defRPr sz="1400">
                <a:solidFill>
                  <a:srgbClr val="4C4C4C"/>
                </a:solidFill>
                <a:latin typeface="+mn-lt"/>
              </a:defRPr>
            </a:lvl4pPr>
            <a:lvl5pPr marL="1376363" indent="-17462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•"/>
              <a:defRPr sz="1200">
                <a:solidFill>
                  <a:srgbClr val="4C4C4C"/>
                </a:solidFill>
                <a:latin typeface="+mn-lt"/>
              </a:defRPr>
            </a:lvl5pPr>
            <a:lvl6pPr marL="1833563" indent="-17462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•"/>
              <a:defRPr sz="1200">
                <a:solidFill>
                  <a:srgbClr val="4C4C4C"/>
                </a:solidFill>
                <a:latin typeface="+mn-lt"/>
              </a:defRPr>
            </a:lvl6pPr>
            <a:lvl7pPr marL="2290763" indent="-17462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•"/>
              <a:defRPr sz="1200">
                <a:solidFill>
                  <a:srgbClr val="4C4C4C"/>
                </a:solidFill>
                <a:latin typeface="+mn-lt"/>
              </a:defRPr>
            </a:lvl7pPr>
            <a:lvl8pPr marL="2747963" indent="-17462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•"/>
              <a:defRPr sz="1200">
                <a:solidFill>
                  <a:srgbClr val="4C4C4C"/>
                </a:solidFill>
                <a:latin typeface="+mn-lt"/>
              </a:defRPr>
            </a:lvl8pPr>
            <a:lvl9pPr marL="3205163" indent="-17462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•"/>
              <a:defRPr sz="1200">
                <a:solidFill>
                  <a:srgbClr val="4C4C4C"/>
                </a:solidFill>
                <a:latin typeface="+mn-lt"/>
              </a:defRPr>
            </a:lvl9pPr>
          </a:lstStyle>
          <a:p>
            <a:r>
              <a:rPr lang="en-US" b="0" i="0" kern="0" dirty="0">
                <a:solidFill>
                  <a:schemeClr val="tx1"/>
                </a:solidFill>
              </a:rPr>
              <a:t>Increasing average age is an ambitious goal. However, Roblox is actively working on the precursor to this initiative; accurately understanding the age of its userbase.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4A63DF9-E214-2115-764D-670EDBFF4EF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91219" y="4109817"/>
            <a:ext cx="3313695" cy="814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181330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89F9A-E08A-AE5E-7A92-05210F620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E0295623-F770-C438-78A5-F806E490F7F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4B4A79-3B13-ABCD-6FEA-90840E0F35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6997876-40B1-6D6F-D202-25EF32968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875" y="28875"/>
            <a:ext cx="8340725" cy="663575"/>
          </a:xfrm>
        </p:spPr>
        <p:txBody>
          <a:bodyPr vert="horz"/>
          <a:lstStyle/>
          <a:p>
            <a:r>
              <a:rPr lang="en-GB" dirty="0">
                <a:solidFill>
                  <a:srgbClr val="000000"/>
                </a:solidFill>
                <a:latin typeface="Arial"/>
                <a:ea typeface="Calibri"/>
                <a:cs typeface="Arial"/>
              </a:rPr>
              <a:t>Aging User Base Drives Monetization Upside</a:t>
            </a:r>
            <a:r>
              <a:rPr lang="en-GB" sz="1200" b="0" dirty="0">
                <a:solidFill>
                  <a:srgbClr val="000000"/>
                </a:solidFill>
                <a:latin typeface="Arial"/>
                <a:ea typeface="Calibri"/>
                <a:cs typeface="Arial"/>
              </a:rPr>
              <a:t>: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4113E-514F-84DF-D79A-F24129011A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B68892-2354-4B4F-931D-9682A5A54ACA}" type="slidenum">
              <a:rPr lang="en-US" smtClean="0"/>
              <a:pPr>
                <a:defRPr/>
              </a:pPr>
              <a:t>11</a:t>
            </a:fld>
            <a:r>
              <a:rPr lang="en-US"/>
              <a:t> | Confidential</a:t>
            </a: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4AED8779-4944-A872-825A-918C4BDAF3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id="{7F5873DB-84BD-6D6A-6B67-40DAE0D30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42AE9C-DA61-323D-E1A2-675CFDEA2B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4812" y="647829"/>
            <a:ext cx="5649480" cy="1098671"/>
          </a:xfrm>
        </p:spPr>
        <p:txBody>
          <a:bodyPr/>
          <a:lstStyle/>
          <a:p>
            <a:r>
              <a:rPr lang="en-US" i="0" dirty="0">
                <a:solidFill>
                  <a:schemeClr val="tx1"/>
                </a:solidFill>
              </a:rPr>
              <a:t>From a value-creation, Game Developer’s POV: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MaterialService</a:t>
            </a:r>
            <a:r>
              <a:rPr lang="en-US" i="0" dirty="0">
                <a:solidFill>
                  <a:schemeClr val="tx1"/>
                </a:solidFill>
              </a:rPr>
              <a:t> and </a:t>
            </a:r>
            <a:r>
              <a:rPr lang="en-US" dirty="0" err="1">
                <a:solidFill>
                  <a:schemeClr val="tx1"/>
                </a:solidFill>
              </a:rPr>
              <a:t>SurfaceAppearance</a:t>
            </a:r>
            <a:r>
              <a:rPr lang="en-US" i="0" dirty="0">
                <a:solidFill>
                  <a:schemeClr val="tx1"/>
                </a:solidFill>
              </a:rPr>
              <a:t> features allow realistic renderings on the Roblox engine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chemeClr val="tx1"/>
                </a:solidFill>
              </a:rPr>
              <a:t>Opens the door for quality, AAA-level games down the line to attract mature audiences.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i="0" dirty="0">
              <a:solidFill>
                <a:schemeClr val="tx1"/>
              </a:solidFill>
            </a:endParaRPr>
          </a:p>
          <a:p>
            <a:endParaRPr lang="en-US" i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i="0" dirty="0">
              <a:solidFill>
                <a:schemeClr val="tx1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DA850CE-FB3A-2E24-C805-4BDFACEC5338}"/>
              </a:ext>
            </a:extLst>
          </p:cNvPr>
          <p:cNvSpPr/>
          <p:nvPr/>
        </p:nvSpPr>
        <p:spPr bwMode="auto">
          <a:xfrm>
            <a:off x="114255" y="126899"/>
            <a:ext cx="463639" cy="467526"/>
          </a:xfrm>
          <a:prstGeom prst="ellipse">
            <a:avLst/>
          </a:prstGeom>
          <a:solidFill>
            <a:srgbClr val="D7200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R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Tx/>
              <a:tabLst/>
            </a:pPr>
            <a:r>
              <a:rPr kumimoji="0" lang="en-US" sz="18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B6B8AD1-161C-72B2-CACE-C599B4E9CBDD}"/>
              </a:ext>
            </a:extLst>
          </p:cNvPr>
          <p:cNvSpPr txBox="1">
            <a:spLocks/>
          </p:cNvSpPr>
          <p:nvPr/>
        </p:nvSpPr>
        <p:spPr>
          <a:xfrm>
            <a:off x="4895891" y="1974456"/>
            <a:ext cx="3843299" cy="1098671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None/>
              <a:defRPr sz="2000" i="1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63550" indent="-174625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–"/>
              <a:defRPr>
                <a:solidFill>
                  <a:srgbClr val="4C4C4C"/>
                </a:solidFill>
                <a:latin typeface="+mn-lt"/>
              </a:defRPr>
            </a:lvl2pPr>
            <a:lvl3pPr marL="760413" indent="-182563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Char char="•"/>
              <a:defRPr sz="1600">
                <a:solidFill>
                  <a:srgbClr val="4C4C4C"/>
                </a:solidFill>
                <a:latin typeface="+mn-lt"/>
              </a:defRPr>
            </a:lvl3pPr>
            <a:lvl4pPr marL="1087438" indent="-212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Century Gothic" pitchFamily="34" charset="0"/>
              <a:buChar char="―"/>
              <a:defRPr sz="1400">
                <a:solidFill>
                  <a:srgbClr val="4C4C4C"/>
                </a:solidFill>
                <a:latin typeface="+mn-lt"/>
              </a:defRPr>
            </a:lvl4pPr>
            <a:lvl5pPr marL="1376363" indent="-17462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•"/>
              <a:defRPr sz="1200">
                <a:solidFill>
                  <a:srgbClr val="4C4C4C"/>
                </a:solidFill>
                <a:latin typeface="+mn-lt"/>
              </a:defRPr>
            </a:lvl5pPr>
            <a:lvl6pPr marL="1833563" indent="-17462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•"/>
              <a:defRPr sz="1200">
                <a:solidFill>
                  <a:srgbClr val="4C4C4C"/>
                </a:solidFill>
                <a:latin typeface="+mn-lt"/>
              </a:defRPr>
            </a:lvl6pPr>
            <a:lvl7pPr marL="2290763" indent="-17462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•"/>
              <a:defRPr sz="1200">
                <a:solidFill>
                  <a:srgbClr val="4C4C4C"/>
                </a:solidFill>
                <a:latin typeface="+mn-lt"/>
              </a:defRPr>
            </a:lvl7pPr>
            <a:lvl8pPr marL="2747963" indent="-17462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•"/>
              <a:defRPr sz="1200">
                <a:solidFill>
                  <a:srgbClr val="4C4C4C"/>
                </a:solidFill>
                <a:latin typeface="+mn-lt"/>
              </a:defRPr>
            </a:lvl8pPr>
            <a:lvl9pPr marL="3205163" indent="-17462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•"/>
              <a:defRPr sz="1200">
                <a:solidFill>
                  <a:srgbClr val="4C4C4C"/>
                </a:solidFill>
                <a:latin typeface="+mn-lt"/>
              </a:defRPr>
            </a:lvl9pPr>
          </a:lstStyle>
          <a:p>
            <a:endParaRPr lang="en-US" b="0" i="0" kern="0" dirty="0">
              <a:solidFill>
                <a:schemeClr val="tx1"/>
              </a:solidFill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08FB586-86A6-B6A7-B6CD-DFB71DCBDE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8669" y="901006"/>
            <a:ext cx="1280758" cy="1012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3DA740EE-8BE9-AA15-7042-07AECA3FE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8773" y="1683031"/>
            <a:ext cx="1440415" cy="1138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80E3525B-D103-623D-CC45-37B6B3FFE67B}"/>
              </a:ext>
            </a:extLst>
          </p:cNvPr>
          <p:cNvSpPr txBox="1">
            <a:spLocks/>
          </p:cNvSpPr>
          <p:nvPr/>
        </p:nvSpPr>
        <p:spPr>
          <a:xfrm>
            <a:off x="3660844" y="2520714"/>
            <a:ext cx="5269558" cy="3668837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None/>
              <a:defRPr sz="2000" i="1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63550" indent="-174625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–"/>
              <a:defRPr>
                <a:solidFill>
                  <a:srgbClr val="4C4C4C"/>
                </a:solidFill>
                <a:latin typeface="+mn-lt"/>
              </a:defRPr>
            </a:lvl2pPr>
            <a:lvl3pPr marL="760413" indent="-182563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Char char="•"/>
              <a:defRPr sz="1600">
                <a:solidFill>
                  <a:srgbClr val="4C4C4C"/>
                </a:solidFill>
                <a:latin typeface="+mn-lt"/>
              </a:defRPr>
            </a:lvl3pPr>
            <a:lvl4pPr marL="1087438" indent="-212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Century Gothic" pitchFamily="34" charset="0"/>
              <a:buChar char="―"/>
              <a:defRPr sz="1400">
                <a:solidFill>
                  <a:srgbClr val="4C4C4C"/>
                </a:solidFill>
                <a:latin typeface="+mn-lt"/>
              </a:defRPr>
            </a:lvl4pPr>
            <a:lvl5pPr marL="1376363" indent="-17462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•"/>
              <a:defRPr sz="1200">
                <a:solidFill>
                  <a:srgbClr val="4C4C4C"/>
                </a:solidFill>
                <a:latin typeface="+mn-lt"/>
              </a:defRPr>
            </a:lvl5pPr>
            <a:lvl6pPr marL="1833563" indent="-17462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•"/>
              <a:defRPr sz="1200">
                <a:solidFill>
                  <a:srgbClr val="4C4C4C"/>
                </a:solidFill>
                <a:latin typeface="+mn-lt"/>
              </a:defRPr>
            </a:lvl6pPr>
            <a:lvl7pPr marL="2290763" indent="-17462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•"/>
              <a:defRPr sz="1200">
                <a:solidFill>
                  <a:srgbClr val="4C4C4C"/>
                </a:solidFill>
                <a:latin typeface="+mn-lt"/>
              </a:defRPr>
            </a:lvl7pPr>
            <a:lvl8pPr marL="2747963" indent="-17462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•"/>
              <a:defRPr sz="1200">
                <a:solidFill>
                  <a:srgbClr val="4C4C4C"/>
                </a:solidFill>
                <a:latin typeface="+mn-lt"/>
              </a:defRPr>
            </a:lvl8pPr>
            <a:lvl9pPr marL="3205163" indent="-17462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•"/>
              <a:defRPr sz="1200">
                <a:solidFill>
                  <a:srgbClr val="4C4C4C"/>
                </a:solidFill>
                <a:latin typeface="+mn-lt"/>
              </a:defRPr>
            </a:lvl9pPr>
          </a:lstStyle>
          <a:p>
            <a:r>
              <a:rPr lang="en-US" b="0" i="0" kern="0" dirty="0">
                <a:solidFill>
                  <a:schemeClr val="tx1"/>
                </a:solidFill>
              </a:rPr>
              <a:t>From a Consumer’s POV: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i="0" kern="0" dirty="0">
                <a:solidFill>
                  <a:schemeClr val="tx1"/>
                </a:solidFill>
              </a:rPr>
              <a:t>Unfiltered chat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i="0" kern="0" dirty="0">
                <a:solidFill>
                  <a:schemeClr val="tx1"/>
                </a:solidFill>
              </a:rPr>
              <a:t>Trusted connections (requires in-person QR code scan for children to add adults)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i="0" kern="0" dirty="0">
                <a:solidFill>
                  <a:schemeClr val="tx1"/>
                </a:solidFill>
              </a:rPr>
              <a:t>Mature experiences (more violence, blood, or crude humor)</a:t>
            </a:r>
          </a:p>
          <a:p>
            <a:r>
              <a:rPr lang="en-US" b="0" i="0" kern="0" dirty="0">
                <a:solidFill>
                  <a:schemeClr val="tx1"/>
                </a:solidFill>
              </a:rPr>
              <a:t>More social engagement → higher session length → higher conversion probability</a:t>
            </a:r>
          </a:p>
          <a:p>
            <a:r>
              <a:rPr lang="en-US" b="0" i="0" kern="0" dirty="0">
                <a:solidFill>
                  <a:schemeClr val="tx1"/>
                </a:solidFill>
              </a:rPr>
              <a:t>Added “social pressure” that drives cosmetic purchases</a:t>
            </a:r>
          </a:p>
        </p:txBody>
      </p:sp>
      <p:pic>
        <p:nvPicPr>
          <p:cNvPr id="6" name="Picture 6" descr="Connecting with Confidence on Roblox: Introducing Trusted Connections, Age  Estimation, and Privacy Tools - Announcements - Developer Forum | Roblox">
            <a:extLst>
              <a:ext uri="{FF2B5EF4-FFF2-40B4-BE49-F238E27FC236}">
                <a16:creationId xmlns:a16="http://schemas.microsoft.com/office/drawing/2014/main" id="{2E5243B9-84F3-05C3-8B03-DA53116107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736" y="4439592"/>
            <a:ext cx="2867620" cy="1614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Top 5 Most Realistic Roblox Games to Play in 2024 - YouTube">
            <a:extLst>
              <a:ext uri="{FF2B5EF4-FFF2-40B4-BE49-F238E27FC236}">
                <a16:creationId xmlns:a16="http://schemas.microsoft.com/office/drawing/2014/main" id="{97D20B98-B422-BF5E-0F3D-ADC680E3DA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894" y="2621983"/>
            <a:ext cx="2868463" cy="1614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9429347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D6303-1DCE-2165-226C-915A426BC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51AEBC3-F06D-9A1B-36EF-89AA337035F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295623-F770-C438-78A5-F806E490F7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0463EA6-3921-0BC8-28C8-3639240C1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875" y="28875"/>
            <a:ext cx="8340725" cy="663575"/>
          </a:xfrm>
        </p:spPr>
        <p:txBody>
          <a:bodyPr vert="horz"/>
          <a:lstStyle/>
          <a:p>
            <a:r>
              <a:rPr lang="en-GB" dirty="0">
                <a:solidFill>
                  <a:srgbClr val="000000"/>
                </a:solidFill>
                <a:latin typeface="Arial"/>
                <a:ea typeface="Calibri"/>
                <a:cs typeface="Arial"/>
              </a:rPr>
              <a:t>Aging User Base Drives Monetization Upside</a:t>
            </a:r>
            <a:r>
              <a:rPr lang="en-GB" sz="1200" b="0" dirty="0">
                <a:solidFill>
                  <a:srgbClr val="000000"/>
                </a:solidFill>
                <a:latin typeface="Arial"/>
                <a:ea typeface="Calibri"/>
                <a:cs typeface="Arial"/>
              </a:rPr>
              <a:t>: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338FEE-3904-0B49-63AD-6390CD9999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B68892-2354-4B4F-931D-9682A5A54ACA}" type="slidenum">
              <a:rPr lang="en-US" smtClean="0"/>
              <a:pPr>
                <a:defRPr/>
              </a:pPr>
              <a:t>12</a:t>
            </a:fld>
            <a:r>
              <a:rPr lang="en-US"/>
              <a:t> | Confidential</a:t>
            </a: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43BA9B57-D7C9-9ADD-23B6-F9974C1C7C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id="{0E4A8276-B5D1-0F48-5CCD-F51B0004AF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AD49702-F782-749F-3823-B3CFD044D5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4812" y="647829"/>
            <a:ext cx="8334378" cy="1098671"/>
          </a:xfrm>
        </p:spPr>
        <p:txBody>
          <a:bodyPr/>
          <a:lstStyle/>
          <a:p>
            <a:r>
              <a:rPr lang="en-US" i="0" dirty="0">
                <a:solidFill>
                  <a:schemeClr val="tx1"/>
                </a:solidFill>
              </a:rPr>
              <a:t>From an explicit profit-seeking Game Developer’s POV: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Missing opportunity; lower-than-expected developer adoption of Roblox's 1P ad solutions</a:t>
            </a:r>
          </a:p>
          <a:p>
            <a:pPr marL="80645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Ads for older consumers have higher CPM</a:t>
            </a:r>
            <a:endParaRPr lang="en-US" i="0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Regional pricing which went into effect in late April for in-experience items and in early June for marketplace items, as well as improved analytics tools for developers to understand monetization</a:t>
            </a:r>
          </a:p>
          <a:p>
            <a:pPr marL="80645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Price items cheaper for children and more expensive for grown ups</a:t>
            </a:r>
            <a:endParaRPr lang="en-US" i="0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i="0" dirty="0">
              <a:solidFill>
                <a:schemeClr val="tx1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973C515-B9AB-C9DF-FD8E-17CDC62233DA}"/>
              </a:ext>
            </a:extLst>
          </p:cNvPr>
          <p:cNvSpPr/>
          <p:nvPr/>
        </p:nvSpPr>
        <p:spPr bwMode="auto">
          <a:xfrm>
            <a:off x="114255" y="126899"/>
            <a:ext cx="463639" cy="467526"/>
          </a:xfrm>
          <a:prstGeom prst="ellipse">
            <a:avLst/>
          </a:prstGeom>
          <a:solidFill>
            <a:srgbClr val="D7200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R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Tx/>
              <a:tabLst/>
            </a:pPr>
            <a:r>
              <a:rPr kumimoji="0" lang="en-US" sz="18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C2ADF1F-52E9-75D0-3764-5ED53B6C255C}"/>
              </a:ext>
            </a:extLst>
          </p:cNvPr>
          <p:cNvSpPr txBox="1">
            <a:spLocks/>
          </p:cNvSpPr>
          <p:nvPr/>
        </p:nvSpPr>
        <p:spPr>
          <a:xfrm>
            <a:off x="4895891" y="1974456"/>
            <a:ext cx="3843299" cy="1098671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None/>
              <a:defRPr sz="2000" i="1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63550" indent="-174625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–"/>
              <a:defRPr>
                <a:solidFill>
                  <a:srgbClr val="4C4C4C"/>
                </a:solidFill>
                <a:latin typeface="+mn-lt"/>
              </a:defRPr>
            </a:lvl2pPr>
            <a:lvl3pPr marL="760413" indent="-182563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Char char="•"/>
              <a:defRPr sz="1600">
                <a:solidFill>
                  <a:srgbClr val="4C4C4C"/>
                </a:solidFill>
                <a:latin typeface="+mn-lt"/>
              </a:defRPr>
            </a:lvl3pPr>
            <a:lvl4pPr marL="1087438" indent="-212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Century Gothic" pitchFamily="34" charset="0"/>
              <a:buChar char="―"/>
              <a:defRPr sz="1400">
                <a:solidFill>
                  <a:srgbClr val="4C4C4C"/>
                </a:solidFill>
                <a:latin typeface="+mn-lt"/>
              </a:defRPr>
            </a:lvl4pPr>
            <a:lvl5pPr marL="1376363" indent="-17462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•"/>
              <a:defRPr sz="1200">
                <a:solidFill>
                  <a:srgbClr val="4C4C4C"/>
                </a:solidFill>
                <a:latin typeface="+mn-lt"/>
              </a:defRPr>
            </a:lvl5pPr>
            <a:lvl6pPr marL="1833563" indent="-17462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•"/>
              <a:defRPr sz="1200">
                <a:solidFill>
                  <a:srgbClr val="4C4C4C"/>
                </a:solidFill>
                <a:latin typeface="+mn-lt"/>
              </a:defRPr>
            </a:lvl6pPr>
            <a:lvl7pPr marL="2290763" indent="-17462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•"/>
              <a:defRPr sz="1200">
                <a:solidFill>
                  <a:srgbClr val="4C4C4C"/>
                </a:solidFill>
                <a:latin typeface="+mn-lt"/>
              </a:defRPr>
            </a:lvl7pPr>
            <a:lvl8pPr marL="2747963" indent="-17462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•"/>
              <a:defRPr sz="1200">
                <a:solidFill>
                  <a:srgbClr val="4C4C4C"/>
                </a:solidFill>
                <a:latin typeface="+mn-lt"/>
              </a:defRPr>
            </a:lvl8pPr>
            <a:lvl9pPr marL="3205163" indent="-17462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Century Gothic" pitchFamily="34" charset="0"/>
              <a:buChar char="•"/>
              <a:defRPr sz="1200">
                <a:solidFill>
                  <a:srgbClr val="4C4C4C"/>
                </a:solidFill>
                <a:latin typeface="+mn-lt"/>
              </a:defRPr>
            </a:lvl9pPr>
          </a:lstStyle>
          <a:p>
            <a:endParaRPr lang="en-US" b="0" i="0" kern="0" dirty="0">
              <a:solidFill>
                <a:schemeClr val="tx1"/>
              </a:solidFill>
            </a:endParaRPr>
          </a:p>
        </p:txBody>
      </p:sp>
      <p:pic>
        <p:nvPicPr>
          <p:cNvPr id="7170" name="Picture 2" descr="Swimming in My Money Like Scrooge McDuck | by Meg Furey | The Coffeelicious  | Medium">
            <a:extLst>
              <a:ext uri="{FF2B5EF4-FFF2-40B4-BE49-F238E27FC236}">
                <a16:creationId xmlns:a16="http://schemas.microsoft.com/office/drawing/2014/main" id="{73553351-4A58-F967-CB5E-3A85F60DEA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4344" y="3561273"/>
            <a:ext cx="3395312" cy="2441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4265731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DSMENUDOCLEVELBTNSTATES" val="&lt;btnStates&gt;&lt;btn tag=&quot;1001&quot; state=&quot;UP&quot;/&gt;&lt;/btnStates&gt;&#10;"/>
  <p:tag name="_CIQLASTID" val="1173"/>
  <p:tag name="DH_FLYSHEET_STYLE" val="1"/>
  <p:tag name="THINKCELLUNDODONOTDELETE" val="0"/>
  <p:tag name="THINKCELLPRESENTATIONDONOTDELETE" val="&lt;?xml version=&quot;1.0&quot; encoding=&quot;UTF-16&quot; standalone=&quot;yes&quot;?&gt;&lt;root reqver=&quot;28224&quot;&gt;&lt;version val=&quot;35673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1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m/%Y&lt;/m_strFormatTime&gt;&lt;m_yearfmt&gt;&lt;begin val=&quot;2&quot;/&gt;&lt;end val=&quot;4&quot;/&gt;&lt;/m_yearfmt&gt;&lt;/m_precDefaultMonth&gt;&lt;m_precDefaultQuarter&gt;&lt;m_bNumberIsYear val=&quot;0&quot;/&gt;&lt;m_strFormatTime&gt;%6/%Y&lt;/m_strFormatTime&gt;&lt;m_yearfmt&gt;&lt;begin val=&quot;2&quot;/&gt;&lt;end val=&quot;4&quot;/&gt;&lt;/m_yearfmt&gt;&lt;/m_precDefaultQuarter&gt;&lt;m_precDefaultYear&gt;&lt;m_bNumberIsYear val=&quot;0&quot;/&gt;&lt;m_strFormatTime&gt;%Y&lt;/m_strFormatTime&gt;&lt;m_yearfmt&gt;&lt;begin val=&quot;2&quot;/&gt;&lt;end val=&quot;2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3&quot;&gt;&lt;elem m_fUsage=&quot;5.72253230259487732923E+00&quot;&gt;&lt;m_msothmcolidx val=&quot;0&quot;/&gt;&lt;m_rgb r=&quot;FF&quot; g=&quot;45&quot; b=&quot;00&quot;/&gt;&lt;/elem&gt;&lt;elem m_fUsage=&quot;2.43900000000000005684E+00&quot;&gt;&lt;m_msothmcolidx val=&quot;0&quot;/&gt;&lt;m_rgb r=&quot;3F&quot; g=&quot;3F&quot; b=&quot;3F&quot;/&gt;&lt;/elem&gt;&lt;elem m_fUsage=&quot;5.58967298187198813331E-01&quot;&gt;&lt;m_msothmcolidx val=&quot;0&quot;/&gt;&lt;m_rgb r=&quot;FF&quot; g=&quot;60&quot; b=&quot;11&quot;/&gt;&lt;/elem&gt;&lt;elem m_fUsage=&quot;4.30467210000000155556E-01&quot;&gt;&lt;m_msothmcolidx val=&quot;0&quot;/&gt;&lt;m_rgb r=&quot;40&quot; g=&quot;40&quot; b=&quot;40&quot;/&gt;&lt;/elem&gt;&lt;elem m_fUsage=&quot;3.13810596090000171188E-01&quot;&gt;&lt;m_msothmcolidx val=&quot;0&quot;/&gt;&lt;m_rgb r=&quot;5E&quot; g=&quot;5E&quot; b=&quot;5E&quot;/&gt;&lt;/elem&gt;&lt;elem m_fUsage=&quot;2.71796773426964899389E-01&quot;&gt;&lt;m_msothmcolidx val=&quot;0&quot;/&gt;&lt;m_rgb r=&quot;03&quot; g=&quot;4E&quot; b=&quot;A2&quot;/&gt;&lt;/elem&gt;&lt;elem m_fUsage=&quot;7.60667452018452122653E-02&quot;&gt;&lt;m_msothmcolidx val=&quot;0&quot;/&gt;&lt;m_rgb r=&quot;FF&quot; g=&quot;B7&quot; b=&quot;00&quot;/&gt;&lt;/elem&gt;&lt;elem m_fUsage=&quot;4.23911582752162438559E-02&quot;&gt;&lt;m_msothmcolidx val=&quot;0&quot;/&gt;&lt;m_rgb r=&quot;F4&quot; g=&quot;75&quot; b=&quot;27&quot;/&gt;&lt;/elem&gt;&lt;elem m_fUsage=&quot;3.44557172271510517292E-02&quot;&gt;&lt;m_msothmcolidx val=&quot;0&quot;/&gt;&lt;m_rgb r=&quot;F8&quot; g=&quot;76&quot; b=&quot;76&quot;/&gt;&lt;/elem&gt;&lt;elem m_fUsage=&quot;2.87000462437509810953E-02&quot;&gt;&lt;m_msothmcolidx val=&quot;0&quot;/&gt;&lt;m_rgb r=&quot;E6&quot; g=&quot;00&quot; b=&quot;13&quot;/&gt;&lt;/elem&gt;&lt;elem m_fUsage=&quot;2.78128389443693807559E-02&quot;&gt;&lt;m_msothmcolidx val=&quot;0&quot;/&gt;&lt;m_rgb r=&quot;F6&quot; g=&quot;7A&quot; b=&quot;EE&quot;/&gt;&lt;/elem&gt;&lt;elem m_fUsage=&quot;1.82480036314007498799E-02&quot;&gt;&lt;m_msothmcolidx val=&quot;0&quot;/&gt;&lt;m_rgb r=&quot;E2&quot; g=&quot;6E&quot; b=&quot;1F&quot;/&gt;&lt;/elem&gt;&lt;elem m_fUsage=&quot;1.11249624037202989035E-02&quot;&gt;&lt;m_msothmcolidx val=&quot;0&quot;/&gt;&lt;m_rgb r=&quot;01&quot; g=&quot;71&quot; b=&quot;C5&quot;/&gt;&lt;/elem&gt;&lt;elem m_fUsage=&quot;7.85516721127895063692E-03&quot;&gt;&lt;m_msothmcolidx val=&quot;0&quot;/&gt;&lt;m_rgb r=&quot;E8&quot; g=&quot;AA&quot; b=&quot;24&quot;/&gt;&lt;/elem&gt;&lt;elem m_fUsage=&quot;6.12031936347614147903E-03&quot;&gt;&lt;m_msothmcolidx val=&quot;0&quot;/&gt;&lt;m_rgb r=&quot;00&quot; g=&quot;57&quot; b=&quot;A5&quot;/&gt;&lt;/elem&gt;&lt;elem m_fUsage=&quot;3.59573658353226589465E-03&quot;&gt;&lt;m_msothmcolidx val=&quot;0&quot;/&gt;&lt;m_rgb r=&quot;00&quot; g=&quot;80&quot; b=&quot;00&quot;/&gt;&lt;/elem&gt;&lt;elem m_fUsage=&quot;1.79701029991443349265E-03&quot;&gt;&lt;m_msothmcolidx val=&quot;0&quot;/&gt;&lt;m_rgb r=&quot;E5&quot; g=&quot;57&quot; b=&quot;11&quot;/&gt;&lt;/elem&gt;&lt;elem m_fUsage=&quot;1.72855896094225571988E-03&quot;&gt;&lt;m_msothmcolidx val=&quot;0&quot;/&gt;&lt;m_rgb r=&quot;E3&quot; g=&quot;07&quot; b=&quot;02&quot;/&gt;&lt;/elem&gt;&lt;elem m_fUsage=&quot;8.63611546274471644086E-04&quot;&gt;&lt;m_msothmcolidx val=&quot;0&quot;/&gt;&lt;m_rgb r=&quot;13&quot; g=&quot;88&quot; b=&quot;4E&quot;/&gt;&lt;/elem&gt;&lt;elem m_fUsage=&quot;6.26578748217797862688E-04&quot;&gt;&lt;m_msothmcolidx val=&quot;0&quot;/&gt;&lt;m_rgb r=&quot;EA&quot; g=&quot;B6&quot; b=&quot;02&quot;/&gt;&lt;/elem&gt;&lt;elem m_fUsage=&quot;2.69721605590608043933E-04&quot;&gt;&lt;m_msothmcolidx val=&quot;0&quot;/&gt;&lt;m_rgb r=&quot;00&quot; g=&quot;88&quot; b=&quot;00&quot;/&gt;&lt;/elem&gt;&lt;elem m_fUsage=&quot;1.96627050475553261533E-04&quot;&gt;&lt;m_msothmcolidx val=&quot;0&quot;/&gt;&lt;m_rgb r=&quot;00&quot; g=&quot;E1&quot; b=&quot;00&quot;/&gt;&lt;/elem&gt;&lt;elem m_fUsage=&quot;1.96627050475553261533E-04&quot;&gt;&lt;m_msothmcolidx val=&quot;0&quot;/&gt;&lt;m_rgb r=&quot;00&quot; g=&quot;00&quot; b=&quot;00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OJga2FlTL.R2FlSbqIYX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VMsGlaoSbWi0bbFn5uMmQ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YSIG_Tech">
  <a:themeElements>
    <a:clrScheme name="YSIG">
      <a:dk1>
        <a:srgbClr val="000000"/>
      </a:dk1>
      <a:lt1>
        <a:srgbClr val="FFFFFF"/>
      </a:lt1>
      <a:dk2>
        <a:srgbClr val="777777"/>
      </a:dk2>
      <a:lt2>
        <a:srgbClr val="E7E6E6"/>
      </a:lt2>
      <a:accent1>
        <a:srgbClr val="1F4175"/>
      </a:accent1>
      <a:accent2>
        <a:srgbClr val="D9E9F1"/>
      </a:accent2>
      <a:accent3>
        <a:srgbClr val="708FB7"/>
      </a:accent3>
      <a:accent4>
        <a:srgbClr val="517D73"/>
      </a:accent4>
      <a:accent5>
        <a:srgbClr val="FEF3D3"/>
      </a:accent5>
      <a:accent6>
        <a:srgbClr val="F8BE00"/>
      </a:accent6>
      <a:hlink>
        <a:srgbClr val="602529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6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ctr" anchorCtr="0" compatLnSpc="1">
        <a:prstTxWarp prst="textNoShape">
          <a:avLst/>
        </a:prstTxWarp>
        <a:noAutofit/>
      </a:bodyPr>
      <a:lstStyle>
        <a:defPPr marR="0" algn="ctr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tx2"/>
          </a:buClr>
          <a:buSzTx/>
          <a:tabLst/>
          <a:defRPr kumimoji="0" sz="1600" i="0" u="none" strike="noStrike" cap="none" normalizeH="0" baseline="0" dirty="0" smtClean="0">
            <a:ln>
              <a:noFill/>
            </a:ln>
            <a:effectLst/>
            <a:latin typeface="Calibri" panose="020F0502020204030204" pitchFamily="34" charset="0"/>
            <a:cs typeface="Calibri" panose="020F0502020204030204" pitchFamily="34" charset="0"/>
          </a:defRPr>
        </a:defPPr>
      </a:lstStyle>
    </a:spDef>
    <a:lnDef>
      <a:spPr bwMode="auto">
        <a:ln>
          <a:headEnd type="none" w="med" len="med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b="0" dirty="0" smtClean="0"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>
    <a:extraClrScheme>
      <a:clrScheme name="vector_stealth 1">
        <a:dk1>
          <a:srgbClr val="4C4C4C"/>
        </a:dk1>
        <a:lt1>
          <a:srgbClr val="FFFFFF"/>
        </a:lt1>
        <a:dk2>
          <a:srgbClr val="00529B"/>
        </a:dk2>
        <a:lt2>
          <a:srgbClr val="808080"/>
        </a:lt2>
        <a:accent1>
          <a:srgbClr val="4A84B8"/>
        </a:accent1>
        <a:accent2>
          <a:srgbClr val="008000"/>
        </a:accent2>
        <a:accent3>
          <a:srgbClr val="FFFFFF"/>
        </a:accent3>
        <a:accent4>
          <a:srgbClr val="404040"/>
        </a:accent4>
        <a:accent5>
          <a:srgbClr val="B1C2D8"/>
        </a:accent5>
        <a:accent6>
          <a:srgbClr val="007300"/>
        </a:accent6>
        <a:hlink>
          <a:srgbClr val="660066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ctor_stealth 2">
        <a:dk1>
          <a:srgbClr val="4C4C4C"/>
        </a:dk1>
        <a:lt1>
          <a:srgbClr val="FFFFFF"/>
        </a:lt1>
        <a:dk2>
          <a:srgbClr val="00529B"/>
        </a:dk2>
        <a:lt2>
          <a:srgbClr val="808080"/>
        </a:lt2>
        <a:accent1>
          <a:srgbClr val="4A84B8"/>
        </a:accent1>
        <a:accent2>
          <a:srgbClr val="000066"/>
        </a:accent2>
        <a:accent3>
          <a:srgbClr val="FFFFFF"/>
        </a:accent3>
        <a:accent4>
          <a:srgbClr val="404040"/>
        </a:accent4>
        <a:accent5>
          <a:srgbClr val="B1C2D8"/>
        </a:accent5>
        <a:accent6>
          <a:srgbClr val="00005C"/>
        </a:accent6>
        <a:hlink>
          <a:srgbClr val="A50021"/>
        </a:hlink>
        <a:folHlink>
          <a:srgbClr val="1C1C1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dd8cbebb-2139-4df8-b411-4e3e87abeb5c}" enabled="0" method="" siteId="{dd8cbebb-2139-4df8-b411-4e3e87abeb5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Vector format</Template>
  <TotalTime>0</TotalTime>
  <Words>1015</Words>
  <Application>Microsoft Macintosh PowerPoint</Application>
  <PresentationFormat>On-screen Show (4:3)</PresentationFormat>
  <Paragraphs>112</Paragraphs>
  <Slides>12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Cambria Math</vt:lpstr>
      <vt:lpstr>Century Gothic</vt:lpstr>
      <vt:lpstr>Source Sans Pro</vt:lpstr>
      <vt:lpstr>YSIG_Tech</vt:lpstr>
      <vt:lpstr>think-cell Slide</vt:lpstr>
      <vt:lpstr>ROBLOX (NYSE: RBLX) Long Recommendation</vt:lpstr>
      <vt:lpstr>Revenue Breakdown</vt:lpstr>
      <vt:lpstr>Revenue Breakdown</vt:lpstr>
      <vt:lpstr>Revenue Breakdown – ABPDAU in APAC/Rest</vt:lpstr>
      <vt:lpstr>Revenue Breakdown – ABPDAU in Western Players</vt:lpstr>
      <vt:lpstr>Revenue Breakdown – Long Term Trends</vt:lpstr>
      <vt:lpstr>Revenue Breakdown – Consumption Headwinds (1/3)</vt:lpstr>
      <vt:lpstr>Revenue Breakdown – Consumption Headwinds (2/3)</vt:lpstr>
      <vt:lpstr>Revenue Breakdown – Consumption Headwinds (3/3)</vt:lpstr>
      <vt:lpstr>Aging User Base Drives Monetization Upside:</vt:lpstr>
      <vt:lpstr>Aging User Base Drives Monetization Upside:</vt:lpstr>
      <vt:lpstr>Aging User Base Drives Monetization Upside: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Kevin Yang</dc:creator>
  <cp:lastModifiedBy>Mateo Rodriguez</cp:lastModifiedBy>
  <cp:revision>3</cp:revision>
  <cp:lastPrinted>2025-03-25T22:54:25Z</cp:lastPrinted>
  <dcterms:created xsi:type="dcterms:W3CDTF">2014-03-04T02:58:51Z</dcterms:created>
  <dcterms:modified xsi:type="dcterms:W3CDTF">2025-11-02T03:42:41Z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le">
    <vt:lpwstr>Project Stealth </vt:lpwstr>
  </property>
  <property fmtid="{D5CDD505-2E9C-101B-9397-08002B2CF9AE}" pid="3" name="Final">
    <vt:bool>true</vt:bool>
  </property>
  <property fmtid="{D5CDD505-2E9C-101B-9397-08002B2CF9AE}" pid="4" name="Event">
    <vt:lpwstr/>
  </property>
  <property fmtid="{D5CDD505-2E9C-101B-9397-08002B2CF9AE}" pid="5" name="Delivery Date">
    <vt:lpwstr/>
  </property>
  <property fmtid="{D5CDD505-2E9C-101B-9397-08002B2CF9AE}" pid="6" name="docid">
    <vt:lpwstr/>
  </property>
</Properties>
</file>